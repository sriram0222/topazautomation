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the time.
Today I want to show you something I've been building for our team: the IT Asset Submission Acknowledgement app.
Every time we issue, swap or collect a laptop, we fill in an acknowledgement form and get it signed. It's a small task, but we do it many times a day, and on new-joiner and exit days we do it in bulk.
In the next ten minutes I'll show you what the process looks like today, what the app does, a quick look at the screens, where we stand, and what support I need to roll it out to the team.
(Everything you'll see on screen is real app screens - the names and IDs are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how we do this today.
For one person, we open the AD report to get the employee's name and manager. For a new hire or break-fix we check the SSRS report for the new laptop. For an exit or break-fix we search TracIT for the current laptop's serial number.
Then we type all of that into the Business Unit's Word form, sign it with Acrobat and the Topaz plug-in, save it, pick a file name and folder, and for exits we write an email.
That's five different tools for one form. It works, but it's slow, especially on bulk days. Every time we retype an ID or a serial number there's a chance of a typo. Everyone saves files a little differently. And there's no single place to see what was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 One screen for a single person.
You scan or type the Employee ID, and within about a second the app fills in the name and manager straight from Active Directory - the same data as the AD report, but no browser, no copy-paste.
At the same time it checks the SSRS report. If the person is there, it picks the submission type for us - here it chose Break Fix - and fills the new laptop serial.
For the current laptop, it reads the TracIT EUC report for our location and fills the serial number. You can see the green messages telling you where each value came from.
Then the employee signs on the Topaz pad, the receiver signs, and one click generates the signed PDF. If any source doesn't have the person, the app just tells you, and you type that field by hand - nothing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happens behind the scenes - in plain terms.
The only input is the Employee ID. From that, the app asks three sources:
- Active Directory gives the name, manager and email. It uses our own Windows login, so there's no password stored anywhere.
- The SSRS asset report, which the app downloads once a day, tells us if this is a new hire, break-fix and so on, and the new laptop serial.
- The TracIT EUC report for our location gives the laptop the person currently has.
The app then fills the Business Unit's own Word template, so the form looks exactly like today's, converts it to PDF and applies two real digital signatures - employee and asset receiver.
Finally it saves the file into a standard folder structure with a standard file name, opens an Outlook draft for exits - it never sends anything by itself - and writes a line 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I think will help us most: bulk days.
Instead of preparing a spreadsheet, you just copy the list of Employee IDs - from Excel, from an email, from anywhere - and paste it. The small window on the left is that paste box.
The app loads everyone into a list. While you start on the first person, it looks up everyone's name and manager in the background. Types and serial numbers come from the SSRS and TracIT reports, so the list on the right fills itself in - you can see type, current serial, new serial and status for each person.
For a list of exits you just choose LWD once, and every laptop serial comes from TracIT.
Then you work down the list - or click Process All and it moves to the next person automatically. It only stops where we genuinely need a human: the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comes out - the same Business Unit form we use today, filled in, with both signatures.
Four things to point out.
First, these are real digital signatures, not just pictures pasted in. If anyone changes the PDF afterwards, Adobe will show the signature as broken. You can open the Signature panel in Adobe and see who signed and when.
Second, the date and time of signing are printed under each signature automatically.
Third, every file is saved the same way - by submission type, then date, then operator, with the Employee ID and type in the file name - so anyone can find any form.
And fourth, we no longer need Acrobat to create these. The app signs the PDF itself, with the Topaz pad when it's connected, or on screen when it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a PDF is generated - or fails - the app writes one line to an audit log: when, who, which employee, which type, where the data came from, and where the file was saved.
The Generated Documents tab shows that history. You can search by Employee ID or type, and open the PDF or its folder in one click. So if someone asks "do we have the signed form for this person?", we can answer in seconds.
The same details are also stored inside the PDF's own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safety, because I know that matters.
The app uses our own Windows login to read Active Directory and the SSRS report - there are no passwords stored in it. Everything runs on our PC and talks only to our internal systems; nothing is sent to the cloud.
The PDFs carry digital signatures, so any edit after signing is visible. Every form is logged.
And it's designed never to block us: if Active Directory, SSRS or TracIT can't be reached, the app tells you and you type that field by hand. Emails are only ever drafts - we review and send them ourselves.
One point for transparency: the signing certificate is created by the app itself, so Adobe shows the signature as valid but from a certificate it doesn't yet know. IT can make it fully trusted by installing that certificate - that's one of my asks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change for us?
Five tools become one screen. When a person is in AD, SSRS and TracIT, we don't retype a single ID or serial number - which removes the most common source of mistakes. On bulk days, one paste loads the whole batch. And every form is filed the same way and logged.
I've deliberately not put a minutes-saved number on this slide, because I'd rather measure it than guess. During the pilot we'll time a few forms the old way and the new way, and count corrections, and I'll come back with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 are.
Done: the single-person and bulk screens, the automatic Active Directory lookup, the SSRS and TracIT data, Topaz and on-screen signing, the signed and filed PDF with audit log, Outlook drafts for exits, and the new screens you've just seen. I'm using it now.
In progress: I'm making the TracIT report download itself every morning. Until that's finished, it's one extra click - export the EUC report from TracIT and use 'Load' in the app. That's what I'm doing today.
Next: a two-week pilot with the team, live new-hire data from ServiceNow, a trusted signing certificate from IT, and a simple install so everyone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this from my desk to the whole team, I need four things.
One: two or three volunteers to use it for two weeks on real issues and returns, and tell me what's missing.
Two: support for an IT security review, and for IT to install the app's signing certificate as trusted, so Adobe shows our signatures as fully trusted for everyone.
Three: a contact in the TracIT team, so we can confirm the right way to pull the EUC report automatically every day.
And four: the ServiceNow table details for new-hire requests, so people who joined the same day fill in automatically too.
(Pause - look to the director.) If we can agree on the pilot today, I can start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 and I can show it live for two minutes.
Demo: 1) Single Person: type an Employee ID - name and manager appear. 2) Point at the green "In SSRS report" / "Filled from TracIT report" messages. 3) Sign Now twice, Generate Signed PDF, open it. 4) Bulk: Paste Employee IDs, Load People, watch names fill in.
Likely questions:
- Secure? Uses our Windows login, no stored passwords, internal systems only.
- AD or TracIT down? It says so; you type that field by hand.
- Needs Acrobat? Not to create or sign. Any PDF viewer opens them.
- Rollout? Two-week pilot, then a simple install for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1371600"/>
            <a:ext cx="5669280" cy="365760"/>
          </a:xfrm>
          <a:prstGeom prst="rect">
            <a:avLst/>
          </a:prstGeom>
          <a:noFill/>
          <a:ln/>
        </p:spPr>
        <p:txBody>
          <a:bodyPr wrap="square" lIns="0" tIns="0" rIns="0" bIns="0" rtlCol="0" anchor="ctr"/>
          <a:lstStyle/>
          <a:p>
            <a:pPr indent="0" marL="0">
              <a:buNone/>
            </a:pPr>
            <a:r>
              <a:rPr lang="en-US" sz="1300" b="1" spc="200" kern="0" dirty="0">
                <a:solidFill>
                  <a:srgbClr val="F6A97C"/>
                </a:solidFill>
                <a:latin typeface="Calibri" pitchFamily="34" charset="0"/>
                <a:ea typeface="Calibri" pitchFamily="34" charset="-122"/>
                <a:cs typeface="Calibri" pitchFamily="34" charset="-120"/>
              </a:rPr>
              <a:t>TEAM UPDATE  ·  01 OCTOBER 2026</a:t>
            </a:r>
            <a:endParaRPr lang="en-US" sz="1300" dirty="0"/>
          </a:p>
        </p:txBody>
      </p:sp>
      <p:sp>
        <p:nvSpPr>
          <p:cNvPr id="3" name="Text 1"/>
          <p:cNvSpPr txBox="1"/>
          <p:nvPr/>
        </p:nvSpPr>
        <p:spPr>
          <a:xfrm>
            <a:off x="640080" y="1828800"/>
            <a:ext cx="54864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IT Asset Submission Acknowledgement App</a:t>
            </a:r>
            <a:endParaRPr lang="en-US" sz="4000" dirty="0"/>
          </a:p>
        </p:txBody>
      </p:sp>
      <p:sp>
        <p:nvSpPr>
          <p:cNvPr id="4" name="Text 2"/>
          <p:cNvSpPr txBox="1"/>
          <p:nvPr/>
        </p:nvSpPr>
        <p:spPr>
          <a:xfrm>
            <a:off x="640080" y="3657600"/>
            <a:ext cx="5394960" cy="822960"/>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From five tools and manual typing to one screen and a signed PDF</a:t>
            </a:r>
            <a:endParaRPr lang="en-US" sz="1800" dirty="0"/>
          </a:p>
        </p:txBody>
      </p:sp>
      <p:sp>
        <p:nvSpPr>
          <p:cNvPr id="5" name="Text 3"/>
          <p:cNvSpPr txBox="1"/>
          <p:nvPr/>
        </p:nvSpPr>
        <p:spPr>
          <a:xfrm>
            <a:off x="640080" y="5120640"/>
            <a:ext cx="5029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Presented by Sriram R</a:t>
            </a:r>
            <a:endParaRPr lang="en-US" sz="1400" dirty="0"/>
          </a:p>
        </p:txBody>
      </p:sp>
      <p:sp>
        <p:nvSpPr>
          <p:cNvPr id="6" name="Shape 4"/>
          <p:cNvSpPr/>
          <p:nvPr/>
        </p:nvSpPr>
        <p:spPr>
          <a:xfrm>
            <a:off x="6473952" y="1243584"/>
            <a:ext cx="5257800" cy="3337560"/>
          </a:xfrm>
          <a:prstGeom prst="rect">
            <a:avLst/>
          </a:prstGeom>
          <a:solidFill>
            <a:srgbClr val="FFFFFF"/>
          </a:solidFill>
          <a:ln w="12700">
            <a:solidFill>
              <a:srgbClr val="FFFFFF"/>
            </a:solidFill>
            <a:prstDash val="solid"/>
          </a:ln>
          <a:effectLst>
            <a:outerShdw sx="100000" sy="100000" kx="0" ky="0" algn="bl" rotWithShape="0" blurRad="101600" dist="38100" dir="5400000">
              <a:srgbClr val="000000">
                <a:alpha val="18000"/>
              </a:srgbClr>
            </a:outerShdw>
          </a:effectLst>
        </p:spPr>
      </p:sp>
      <p:pic>
        <p:nvPicPr>
          <p:cNvPr id="7" name="Image 0" descr="/tmp/work/deck/shots/01_single_top.png">    </p:cNvPr>
          <p:cNvPicPr>
            <a:picLocks noChangeAspect="1"/>
          </p:cNvPicPr>
          <p:nvPr/>
        </p:nvPicPr>
        <p:blipFill>
          <a:blip r:embed="rId1"/>
          <a:stretch>
            <a:fillRect/>
          </a:stretch>
        </p:blipFill>
        <p:spPr>
          <a:xfrm>
            <a:off x="6492240" y="1261872"/>
            <a:ext cx="5221224" cy="3264408"/>
          </a:xfrm>
          <a:prstGeom prst="rect">
            <a:avLst/>
          </a:prstGeom>
        </p:spPr>
      </p:pic>
      <p:sp>
        <p:nvSpPr>
          <p:cNvPr id="8" name="Text 5"/>
          <p:cNvSpPr txBox="1"/>
          <p:nvPr/>
        </p:nvSpPr>
        <p:spPr>
          <a:xfrm>
            <a:off x="6492240" y="4681728"/>
            <a:ext cx="5221224" cy="274320"/>
          </a:xfrm>
          <a:prstGeom prst="rect">
            <a:avLst/>
          </a:prstGeom>
          <a:noFill/>
          <a:ln/>
        </p:spPr>
        <p:txBody>
          <a:bodyPr wrap="square" lIns="0" tIns="0" rIns="0" bIns="0" rtlCol="0" anchor="ctr"/>
          <a:lstStyle/>
          <a:p>
            <a:pPr algn="r" indent="0" marL="0">
              <a:buNone/>
            </a:pPr>
            <a:r>
              <a:rPr lang="en-US" sz="1100" i="1" dirty="0">
                <a:solidFill>
                  <a:srgbClr val="94A3B8"/>
                </a:solidFill>
                <a:latin typeface="Calibri" pitchFamily="34" charset="0"/>
                <a:ea typeface="Calibri" pitchFamily="34" charset="-122"/>
                <a:cs typeface="Calibri" pitchFamily="34" charset="-120"/>
              </a:rPr>
              <a:t>Real app screen · sample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Today, one form means five tools</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Every issue, swap or return is done by hand, person by person</a:t>
            </a:r>
            <a:endParaRPr lang="en-US" sz="1500" dirty="0"/>
          </a:p>
        </p:txBody>
      </p:sp>
      <p:sp>
        <p:nvSpPr>
          <p:cNvPr id="4" name="Shape 2"/>
          <p:cNvSpPr/>
          <p:nvPr/>
        </p:nvSpPr>
        <p:spPr>
          <a:xfrm>
            <a:off x="640080" y="1691640"/>
            <a:ext cx="566928" cy="566928"/>
          </a:xfrm>
          <a:prstGeom prst="ellipse">
            <a:avLst/>
          </a:prstGeom>
          <a:solidFill>
            <a:srgbClr val="E35205"/>
          </a:solidFill>
          <a:ln w="12700">
            <a:solidFill>
              <a:srgbClr val="E35205"/>
            </a:solidFill>
            <a:prstDash val="solid"/>
          </a:ln>
        </p:spPr>
      </p:sp>
      <p:pic>
        <p:nvPicPr>
          <p:cNvPr id="5" name="Image 0" descr="preencoded.png">    </p:cNvPr>
          <p:cNvPicPr>
            <a:picLocks noChangeAspect="1"/>
          </p:cNvPicPr>
          <p:nvPr/>
        </p:nvPicPr>
        <p:blipFill>
          <a:blip r:embed="rId1"/>
          <a:stretch>
            <a:fillRect/>
          </a:stretch>
        </p:blipFill>
        <p:spPr>
          <a:xfrm>
            <a:off x="764804" y="1816364"/>
            <a:ext cx="317480" cy="317480"/>
          </a:xfrm>
          <a:prstGeom prst="rect">
            <a:avLst/>
          </a:prstGeom>
        </p:spPr>
      </p:pic>
      <p:sp>
        <p:nvSpPr>
          <p:cNvPr id="6" name="Text 3"/>
          <p:cNvSpPr txBox="1"/>
          <p:nvPr/>
        </p:nvSpPr>
        <p:spPr>
          <a:xfrm>
            <a:off x="1417320" y="1673352"/>
            <a:ext cx="5029200" cy="329184"/>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Look up name &amp; manager</a:t>
            </a:r>
            <a:endParaRPr lang="en-US" sz="1700" dirty="0"/>
          </a:p>
        </p:txBody>
      </p:sp>
      <p:sp>
        <p:nvSpPr>
          <p:cNvPr id="7" name="Text 4"/>
          <p:cNvSpPr txBox="1"/>
          <p:nvPr/>
        </p:nvSpPr>
        <p:spPr>
          <a:xfrm>
            <a:off x="1417320" y="1984248"/>
            <a:ext cx="5029200" cy="27432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AD report in the browser</a:t>
            </a:r>
            <a:endParaRPr lang="en-US" sz="1300" dirty="0"/>
          </a:p>
        </p:txBody>
      </p:sp>
      <p:sp>
        <p:nvSpPr>
          <p:cNvPr id="8" name="Shape 5"/>
          <p:cNvSpPr/>
          <p:nvPr/>
        </p:nvSpPr>
        <p:spPr>
          <a:xfrm>
            <a:off x="640080" y="2587752"/>
            <a:ext cx="566928" cy="566928"/>
          </a:xfrm>
          <a:prstGeom prst="ellipse">
            <a:avLst/>
          </a:prstGeom>
          <a:solidFill>
            <a:srgbClr val="E35205"/>
          </a:solidFill>
          <a:ln w="12700">
            <a:solidFill>
              <a:srgbClr val="E35205"/>
            </a:solidFill>
            <a:prstDash val="solid"/>
          </a:ln>
        </p:spPr>
      </p:sp>
      <p:pic>
        <p:nvPicPr>
          <p:cNvPr id="9" name="Image 1" descr="preencoded.png">    </p:cNvPr>
          <p:cNvPicPr>
            <a:picLocks noChangeAspect="1"/>
          </p:cNvPicPr>
          <p:nvPr/>
        </p:nvPicPr>
        <p:blipFill>
          <a:blip r:embed="rId2"/>
          <a:stretch>
            <a:fillRect/>
          </a:stretch>
        </p:blipFill>
        <p:spPr>
          <a:xfrm>
            <a:off x="764804" y="2712476"/>
            <a:ext cx="317480" cy="317480"/>
          </a:xfrm>
          <a:prstGeom prst="rect">
            <a:avLst/>
          </a:prstGeom>
        </p:spPr>
      </p:pic>
      <p:sp>
        <p:nvSpPr>
          <p:cNvPr id="10" name="Text 6"/>
          <p:cNvSpPr txBox="1"/>
          <p:nvPr/>
        </p:nvSpPr>
        <p:spPr>
          <a:xfrm>
            <a:off x="1417320" y="2569464"/>
            <a:ext cx="5029200" cy="329184"/>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Find the new laptop</a:t>
            </a:r>
            <a:endParaRPr lang="en-US" sz="1700" dirty="0"/>
          </a:p>
        </p:txBody>
      </p:sp>
      <p:sp>
        <p:nvSpPr>
          <p:cNvPr id="11" name="Text 7"/>
          <p:cNvSpPr txBox="1"/>
          <p:nvPr/>
        </p:nvSpPr>
        <p:spPr>
          <a:xfrm>
            <a:off x="1417320" y="2880360"/>
            <a:ext cx="5029200" cy="27432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SSRS asset report</a:t>
            </a:r>
            <a:endParaRPr lang="en-US" sz="1300" dirty="0"/>
          </a:p>
        </p:txBody>
      </p:sp>
      <p:sp>
        <p:nvSpPr>
          <p:cNvPr id="12" name="Shape 8"/>
          <p:cNvSpPr/>
          <p:nvPr/>
        </p:nvSpPr>
        <p:spPr>
          <a:xfrm>
            <a:off x="640080" y="3483864"/>
            <a:ext cx="566928" cy="566928"/>
          </a:xfrm>
          <a:prstGeom prst="ellipse">
            <a:avLst/>
          </a:prstGeom>
          <a:solidFill>
            <a:srgbClr val="E35205"/>
          </a:solidFill>
          <a:ln w="12700">
            <a:solidFill>
              <a:srgbClr val="E35205"/>
            </a:solidFill>
            <a:prstDash val="solid"/>
          </a:ln>
        </p:spPr>
      </p:sp>
      <p:pic>
        <p:nvPicPr>
          <p:cNvPr id="13" name="Image 2" descr="preencoded.png">    </p:cNvPr>
          <p:cNvPicPr>
            <a:picLocks noChangeAspect="1"/>
          </p:cNvPicPr>
          <p:nvPr/>
        </p:nvPicPr>
        <p:blipFill>
          <a:blip r:embed="rId3"/>
          <a:stretch>
            <a:fillRect/>
          </a:stretch>
        </p:blipFill>
        <p:spPr>
          <a:xfrm>
            <a:off x="764804" y="3608588"/>
            <a:ext cx="317480" cy="317480"/>
          </a:xfrm>
          <a:prstGeom prst="rect">
            <a:avLst/>
          </a:prstGeom>
        </p:spPr>
      </p:pic>
      <p:sp>
        <p:nvSpPr>
          <p:cNvPr id="14" name="Text 9"/>
          <p:cNvSpPr txBox="1"/>
          <p:nvPr/>
        </p:nvSpPr>
        <p:spPr>
          <a:xfrm>
            <a:off x="1417320" y="3465576"/>
            <a:ext cx="5029200" cy="329184"/>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Find the current laptop serial</a:t>
            </a:r>
            <a:endParaRPr lang="en-US" sz="1700" dirty="0"/>
          </a:p>
        </p:txBody>
      </p:sp>
      <p:sp>
        <p:nvSpPr>
          <p:cNvPr id="15" name="Text 10"/>
          <p:cNvSpPr txBox="1"/>
          <p:nvPr/>
        </p:nvSpPr>
        <p:spPr>
          <a:xfrm>
            <a:off x="1417320" y="3776472"/>
            <a:ext cx="5029200" cy="27432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Search TracIT</a:t>
            </a:r>
            <a:endParaRPr lang="en-US" sz="1300" dirty="0"/>
          </a:p>
        </p:txBody>
      </p:sp>
      <p:sp>
        <p:nvSpPr>
          <p:cNvPr id="16" name="Shape 11"/>
          <p:cNvSpPr/>
          <p:nvPr/>
        </p:nvSpPr>
        <p:spPr>
          <a:xfrm>
            <a:off x="640080" y="4379976"/>
            <a:ext cx="566928" cy="566928"/>
          </a:xfrm>
          <a:prstGeom prst="ellipse">
            <a:avLst/>
          </a:prstGeom>
          <a:solidFill>
            <a:srgbClr val="E35205"/>
          </a:solidFill>
          <a:ln w="12700">
            <a:solidFill>
              <a:srgbClr val="E35205"/>
            </a:solidFill>
            <a:prstDash val="solid"/>
          </a:ln>
        </p:spPr>
      </p:sp>
      <p:pic>
        <p:nvPicPr>
          <p:cNvPr id="17" name="Image 3" descr="preencoded.png">    </p:cNvPr>
          <p:cNvPicPr>
            <a:picLocks noChangeAspect="1"/>
          </p:cNvPicPr>
          <p:nvPr/>
        </p:nvPicPr>
        <p:blipFill>
          <a:blip r:embed="rId4"/>
          <a:stretch>
            <a:fillRect/>
          </a:stretch>
        </p:blipFill>
        <p:spPr>
          <a:xfrm>
            <a:off x="764804" y="4504700"/>
            <a:ext cx="317480" cy="317480"/>
          </a:xfrm>
          <a:prstGeom prst="rect">
            <a:avLst/>
          </a:prstGeom>
        </p:spPr>
      </p:pic>
      <p:sp>
        <p:nvSpPr>
          <p:cNvPr id="18" name="Text 12"/>
          <p:cNvSpPr txBox="1"/>
          <p:nvPr/>
        </p:nvSpPr>
        <p:spPr>
          <a:xfrm>
            <a:off x="1417320" y="4361688"/>
            <a:ext cx="5029200" cy="329184"/>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Type it all into the Word form</a:t>
            </a:r>
            <a:endParaRPr lang="en-US" sz="1700" dirty="0"/>
          </a:p>
        </p:txBody>
      </p:sp>
      <p:sp>
        <p:nvSpPr>
          <p:cNvPr id="19" name="Text 13"/>
          <p:cNvSpPr txBox="1"/>
          <p:nvPr/>
        </p:nvSpPr>
        <p:spPr>
          <a:xfrm>
            <a:off x="1417320" y="4672584"/>
            <a:ext cx="5029200" cy="27432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Then sign with Acrobat + Topaz plug-in</a:t>
            </a:r>
            <a:endParaRPr lang="en-US" sz="1300" dirty="0"/>
          </a:p>
        </p:txBody>
      </p:sp>
      <p:sp>
        <p:nvSpPr>
          <p:cNvPr id="20" name="Shape 14"/>
          <p:cNvSpPr/>
          <p:nvPr/>
        </p:nvSpPr>
        <p:spPr>
          <a:xfrm>
            <a:off x="640080" y="5276088"/>
            <a:ext cx="566928" cy="566928"/>
          </a:xfrm>
          <a:prstGeom prst="ellipse">
            <a:avLst/>
          </a:prstGeom>
          <a:solidFill>
            <a:srgbClr val="E35205"/>
          </a:solidFill>
          <a:ln w="12700">
            <a:solidFill>
              <a:srgbClr val="E35205"/>
            </a:solidFill>
            <a:prstDash val="solid"/>
          </a:ln>
        </p:spPr>
      </p:sp>
      <p:pic>
        <p:nvPicPr>
          <p:cNvPr id="21" name="Image 4" descr="preencoded.png">    </p:cNvPr>
          <p:cNvPicPr>
            <a:picLocks noChangeAspect="1"/>
          </p:cNvPicPr>
          <p:nvPr/>
        </p:nvPicPr>
        <p:blipFill>
          <a:blip r:embed="rId5"/>
          <a:stretch>
            <a:fillRect/>
          </a:stretch>
        </p:blipFill>
        <p:spPr>
          <a:xfrm>
            <a:off x="764804" y="5400812"/>
            <a:ext cx="317480" cy="317480"/>
          </a:xfrm>
          <a:prstGeom prst="rect">
            <a:avLst/>
          </a:prstGeom>
        </p:spPr>
      </p:pic>
      <p:sp>
        <p:nvSpPr>
          <p:cNvPr id="22" name="Text 15"/>
          <p:cNvSpPr txBox="1"/>
          <p:nvPr/>
        </p:nvSpPr>
        <p:spPr>
          <a:xfrm>
            <a:off x="1417320" y="5257800"/>
            <a:ext cx="5029200" cy="329184"/>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Save, name, file &amp; email the PDF</a:t>
            </a:r>
            <a:endParaRPr lang="en-US" sz="1700" dirty="0"/>
          </a:p>
        </p:txBody>
      </p:sp>
      <p:sp>
        <p:nvSpPr>
          <p:cNvPr id="23" name="Text 16"/>
          <p:cNvSpPr txBox="1"/>
          <p:nvPr/>
        </p:nvSpPr>
        <p:spPr>
          <a:xfrm>
            <a:off x="1417320" y="5568696"/>
            <a:ext cx="5029200" cy="27432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Folder and file name chosen by hand</a:t>
            </a:r>
            <a:endParaRPr lang="en-US" sz="1300" dirty="0"/>
          </a:p>
        </p:txBody>
      </p:sp>
      <p:sp>
        <p:nvSpPr>
          <p:cNvPr id="24" name="Shape 17"/>
          <p:cNvSpPr/>
          <p:nvPr/>
        </p:nvSpPr>
        <p:spPr>
          <a:xfrm>
            <a:off x="6949440" y="1691640"/>
            <a:ext cx="4663440" cy="4206240"/>
          </a:xfrm>
          <a:prstGeom prst="roundRect">
            <a:avLst>
              <a:gd name="adj" fmla="val 2609"/>
            </a:avLst>
          </a:prstGeom>
          <a:solidFill>
            <a:srgbClr val="FDF0E8"/>
          </a:solidFill>
          <a:ln w="12700">
            <a:solidFill>
              <a:srgbClr val="FDF0E8"/>
            </a:solidFill>
            <a:prstDash val="solid"/>
          </a:ln>
        </p:spPr>
      </p:sp>
      <p:sp>
        <p:nvSpPr>
          <p:cNvPr id="25" name="Text 18"/>
          <p:cNvSpPr txBox="1"/>
          <p:nvPr/>
        </p:nvSpPr>
        <p:spPr>
          <a:xfrm>
            <a:off x="7269480" y="1920240"/>
            <a:ext cx="4114800" cy="411480"/>
          </a:xfrm>
          <a:prstGeom prst="rect">
            <a:avLst/>
          </a:prstGeom>
          <a:noFill/>
          <a:ln/>
        </p:spPr>
        <p:txBody>
          <a:bodyPr wrap="square" lIns="0" tIns="0" rIns="0" bIns="0" rtlCol="0" anchor="ctr"/>
          <a:lstStyle/>
          <a:p>
            <a:pPr indent="0" marL="0">
              <a:buNone/>
            </a:pPr>
            <a:r>
              <a:rPr lang="en-US" sz="2000" b="1" dirty="0">
                <a:solidFill>
                  <a:srgbClr val="E35205"/>
                </a:solidFill>
                <a:latin typeface="Calibri" pitchFamily="34" charset="0"/>
                <a:ea typeface="Calibri" pitchFamily="34" charset="-122"/>
                <a:cs typeface="Calibri" pitchFamily="34" charset="-120"/>
              </a:rPr>
              <a:t>What this costs us</a:t>
            </a:r>
            <a:endParaRPr lang="en-US" sz="2000" dirty="0"/>
          </a:p>
        </p:txBody>
      </p:sp>
      <p:sp>
        <p:nvSpPr>
          <p:cNvPr id="26" name="Text 19"/>
          <p:cNvSpPr txBox="1"/>
          <p:nvPr/>
        </p:nvSpPr>
        <p:spPr>
          <a:xfrm>
            <a:off x="7269480" y="2468880"/>
            <a:ext cx="411480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Retyping IDs and serial numbers invites typos</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Bulk days (new joiners, exits) take hours</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File names and folders differ by person</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Depends on Acrobat + the Topaz plug-in on every PC</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No single record of what was generated</a:t>
            </a:r>
            <a:endParaRPr lang="en-US" sz="1600" dirty="0"/>
          </a:p>
        </p:txBody>
      </p:sp>
      <p:sp>
        <p:nvSpPr>
          <p:cNvPr id="27" name="Text 2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The app: type the Employee ID, everything else fills itself</a:t>
            </a:r>
            <a:endParaRPr lang="en-US" sz="3200" dirty="0"/>
          </a:p>
        </p:txBody>
      </p:sp>
      <p:sp>
        <p:nvSpPr>
          <p:cNvPr id="3" name="Shape 1"/>
          <p:cNvSpPr/>
          <p:nvPr/>
        </p:nvSpPr>
        <p:spPr>
          <a:xfrm>
            <a:off x="512064" y="1289304"/>
            <a:ext cx="7662672" cy="4818888"/>
          </a:xfrm>
          <a:prstGeom prst="rect">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pic>
        <p:nvPicPr>
          <p:cNvPr id="4" name="Image 0" descr="/tmp/work/deck/shots/01_single_top.png">    </p:cNvPr>
          <p:cNvPicPr>
            <a:picLocks noChangeAspect="1"/>
          </p:cNvPicPr>
          <p:nvPr/>
        </p:nvPicPr>
        <p:blipFill>
          <a:blip r:embed="rId1"/>
          <a:stretch>
            <a:fillRect/>
          </a:stretch>
        </p:blipFill>
        <p:spPr>
          <a:xfrm>
            <a:off x="548640" y="1325880"/>
            <a:ext cx="7589520" cy="4745736"/>
          </a:xfrm>
          <a:prstGeom prst="rect">
            <a:avLst/>
          </a:prstGeom>
        </p:spPr>
      </p:pic>
      <p:sp>
        <p:nvSpPr>
          <p:cNvPr id="5" name="Shape 2"/>
          <p:cNvSpPr/>
          <p:nvPr/>
        </p:nvSpPr>
        <p:spPr>
          <a:xfrm>
            <a:off x="8549640" y="1463040"/>
            <a:ext cx="384048" cy="384048"/>
          </a:xfrm>
          <a:prstGeom prst="ellipse">
            <a:avLst/>
          </a:prstGeom>
          <a:solidFill>
            <a:srgbClr val="E35205"/>
          </a:solidFill>
          <a:ln w="12700">
            <a:solidFill>
              <a:srgbClr val="E35205"/>
            </a:solidFill>
            <a:prstDash val="solid"/>
          </a:ln>
        </p:spPr>
      </p:sp>
      <p:sp>
        <p:nvSpPr>
          <p:cNvPr id="6" name="Text 3"/>
          <p:cNvSpPr txBox="1"/>
          <p:nvPr/>
        </p:nvSpPr>
        <p:spPr>
          <a:xfrm>
            <a:off x="854964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9098280" y="1426464"/>
            <a:ext cx="2697480" cy="329184"/>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Name &amp; manager</a:t>
            </a:r>
            <a:endParaRPr lang="en-US" sz="1600" dirty="0"/>
          </a:p>
        </p:txBody>
      </p:sp>
      <p:sp>
        <p:nvSpPr>
          <p:cNvPr id="8" name="Text 5"/>
          <p:cNvSpPr txBox="1"/>
          <p:nvPr/>
        </p:nvSpPr>
        <p:spPr>
          <a:xfrm>
            <a:off x="9098280" y="1755648"/>
            <a:ext cx="2697480" cy="6400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from Active Directory, automatically</a:t>
            </a:r>
            <a:endParaRPr lang="en-US" sz="1300" dirty="0"/>
          </a:p>
        </p:txBody>
      </p:sp>
      <p:sp>
        <p:nvSpPr>
          <p:cNvPr id="9" name="Shape 6"/>
          <p:cNvSpPr/>
          <p:nvPr/>
        </p:nvSpPr>
        <p:spPr>
          <a:xfrm>
            <a:off x="8549640" y="2606040"/>
            <a:ext cx="384048" cy="384048"/>
          </a:xfrm>
          <a:prstGeom prst="ellipse">
            <a:avLst/>
          </a:prstGeom>
          <a:solidFill>
            <a:srgbClr val="E35205"/>
          </a:solidFill>
          <a:ln w="12700">
            <a:solidFill>
              <a:srgbClr val="E35205"/>
            </a:solidFill>
            <a:prstDash val="solid"/>
          </a:ln>
        </p:spPr>
      </p:sp>
      <p:sp>
        <p:nvSpPr>
          <p:cNvPr id="10" name="Text 7"/>
          <p:cNvSpPr txBox="1"/>
          <p:nvPr/>
        </p:nvSpPr>
        <p:spPr>
          <a:xfrm>
            <a:off x="8549640"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098280" y="2569464"/>
            <a:ext cx="2697480" cy="329184"/>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Submission type &amp; new laptop</a:t>
            </a:r>
            <a:endParaRPr lang="en-US" sz="1600" dirty="0"/>
          </a:p>
        </p:txBody>
      </p:sp>
      <p:sp>
        <p:nvSpPr>
          <p:cNvPr id="12" name="Text 9"/>
          <p:cNvSpPr txBox="1"/>
          <p:nvPr/>
        </p:nvSpPr>
        <p:spPr>
          <a:xfrm>
            <a:off x="9098280" y="2898648"/>
            <a:ext cx="2697480" cy="6400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from the SSRS report</a:t>
            </a:r>
            <a:endParaRPr lang="en-US" sz="1300" dirty="0"/>
          </a:p>
        </p:txBody>
      </p:sp>
      <p:sp>
        <p:nvSpPr>
          <p:cNvPr id="13" name="Shape 10"/>
          <p:cNvSpPr/>
          <p:nvPr/>
        </p:nvSpPr>
        <p:spPr>
          <a:xfrm>
            <a:off x="8549640" y="3749040"/>
            <a:ext cx="384048" cy="384048"/>
          </a:xfrm>
          <a:prstGeom prst="ellipse">
            <a:avLst/>
          </a:prstGeom>
          <a:solidFill>
            <a:srgbClr val="E35205"/>
          </a:solidFill>
          <a:ln w="12700">
            <a:solidFill>
              <a:srgbClr val="E35205"/>
            </a:solidFill>
            <a:prstDash val="solid"/>
          </a:ln>
        </p:spPr>
      </p:sp>
      <p:sp>
        <p:nvSpPr>
          <p:cNvPr id="14" name="Text 11"/>
          <p:cNvSpPr txBox="1"/>
          <p:nvPr/>
        </p:nvSpPr>
        <p:spPr>
          <a:xfrm>
            <a:off x="8549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9098280" y="3712464"/>
            <a:ext cx="2697480" cy="329184"/>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Current laptop serial</a:t>
            </a:r>
            <a:endParaRPr lang="en-US" sz="1600" dirty="0"/>
          </a:p>
        </p:txBody>
      </p:sp>
      <p:sp>
        <p:nvSpPr>
          <p:cNvPr id="16" name="Text 13"/>
          <p:cNvSpPr txBox="1"/>
          <p:nvPr/>
        </p:nvSpPr>
        <p:spPr>
          <a:xfrm>
            <a:off x="9098280" y="4041648"/>
            <a:ext cx="2697480" cy="6400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from the TracIT report</a:t>
            </a:r>
            <a:endParaRPr lang="en-US" sz="1300" dirty="0"/>
          </a:p>
        </p:txBody>
      </p:sp>
      <p:sp>
        <p:nvSpPr>
          <p:cNvPr id="17" name="Shape 14"/>
          <p:cNvSpPr/>
          <p:nvPr/>
        </p:nvSpPr>
        <p:spPr>
          <a:xfrm>
            <a:off x="8549640" y="4892040"/>
            <a:ext cx="384048" cy="384048"/>
          </a:xfrm>
          <a:prstGeom prst="ellipse">
            <a:avLst/>
          </a:prstGeom>
          <a:solidFill>
            <a:srgbClr val="E35205"/>
          </a:solidFill>
          <a:ln w="12700">
            <a:solidFill>
              <a:srgbClr val="E35205"/>
            </a:solidFill>
            <a:prstDash val="solid"/>
          </a:ln>
        </p:spPr>
      </p:sp>
      <p:sp>
        <p:nvSpPr>
          <p:cNvPr id="18" name="Text 15"/>
          <p:cNvSpPr txBox="1"/>
          <p:nvPr/>
        </p:nvSpPr>
        <p:spPr>
          <a:xfrm>
            <a:off x="8549640" y="4892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9098280" y="4855464"/>
            <a:ext cx="2697480" cy="329184"/>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Sign &amp; generate</a:t>
            </a:r>
            <a:endParaRPr lang="en-US" sz="1600" dirty="0"/>
          </a:p>
        </p:txBody>
      </p:sp>
      <p:sp>
        <p:nvSpPr>
          <p:cNvPr id="20" name="Text 17"/>
          <p:cNvSpPr txBox="1"/>
          <p:nvPr/>
        </p:nvSpPr>
        <p:spPr>
          <a:xfrm>
            <a:off x="9098280" y="5184648"/>
            <a:ext cx="2697480" cy="6400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Topaz pad or on-screen, then one click for the signed PDF</a:t>
            </a:r>
            <a:endParaRPr lang="en-US" sz="1300" dirty="0"/>
          </a:p>
        </p:txBody>
      </p:sp>
      <p:sp>
        <p:nvSpPr>
          <p:cNvPr id="21" name="Text 1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How it works</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One Employee ID in - a signed, filed, logged PDF out</a:t>
            </a:r>
            <a:endParaRPr lang="en-US" sz="1500" dirty="0"/>
          </a:p>
        </p:txBody>
      </p:sp>
      <p:sp>
        <p:nvSpPr>
          <p:cNvPr id="4" name="Shape 2"/>
          <p:cNvSpPr/>
          <p:nvPr/>
        </p:nvSpPr>
        <p:spPr>
          <a:xfrm>
            <a:off x="548640" y="2971800"/>
            <a:ext cx="1737360" cy="1143000"/>
          </a:xfrm>
          <a:prstGeom prst="roundRect">
            <a:avLst>
              <a:gd name="adj" fmla="val 8000"/>
            </a:avLst>
          </a:prstGeom>
          <a:solidFill>
            <a:srgbClr val="0B1F3A"/>
          </a:solidFill>
          <a:ln w="12700">
            <a:solidFill>
              <a:srgbClr val="0B1F3A"/>
            </a:solidFill>
            <a:prstDash val="solid"/>
          </a:ln>
        </p:spPr>
      </p:sp>
      <p:sp>
        <p:nvSpPr>
          <p:cNvPr id="5" name="Shape 3"/>
          <p:cNvSpPr/>
          <p:nvPr/>
        </p:nvSpPr>
        <p:spPr>
          <a:xfrm>
            <a:off x="1179576" y="3090672"/>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280160" y="3191256"/>
            <a:ext cx="256032" cy="256032"/>
          </a:xfrm>
          <a:prstGeom prst="rect">
            <a:avLst/>
          </a:prstGeom>
        </p:spPr>
      </p:pic>
      <p:sp>
        <p:nvSpPr>
          <p:cNvPr id="7" name="Text 4"/>
          <p:cNvSpPr txBox="1"/>
          <p:nvPr/>
        </p:nvSpPr>
        <p:spPr>
          <a:xfrm>
            <a:off x="548640" y="3584448"/>
            <a:ext cx="17373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Employee ID</a:t>
            </a:r>
            <a:endParaRPr lang="en-US" sz="1500" dirty="0"/>
          </a:p>
        </p:txBody>
      </p:sp>
      <p:sp>
        <p:nvSpPr>
          <p:cNvPr id="8" name="Shape 5"/>
          <p:cNvSpPr/>
          <p:nvPr/>
        </p:nvSpPr>
        <p:spPr>
          <a:xfrm>
            <a:off x="2926080" y="1691640"/>
            <a:ext cx="2743200" cy="1051560"/>
          </a:xfrm>
          <a:prstGeom prst="roundRect">
            <a:avLst>
              <a:gd name="adj" fmla="val 8696"/>
            </a:avLst>
          </a:prstGeom>
          <a:solidFill>
            <a:srgbClr val="FDF0E8"/>
          </a:solidFill>
          <a:ln w="12700">
            <a:solidFill>
              <a:srgbClr val="FDF0E8"/>
            </a:solidFill>
            <a:prstDash val="solid"/>
          </a:ln>
        </p:spPr>
      </p:sp>
      <p:sp>
        <p:nvSpPr>
          <p:cNvPr id="9" name="Shape 6"/>
          <p:cNvSpPr/>
          <p:nvPr/>
        </p:nvSpPr>
        <p:spPr>
          <a:xfrm>
            <a:off x="3090672" y="1938528"/>
            <a:ext cx="548640" cy="548640"/>
          </a:xfrm>
          <a:prstGeom prst="ellipse">
            <a:avLst/>
          </a:prstGeom>
          <a:solidFill>
            <a:srgbClr val="E35205"/>
          </a:solidFill>
          <a:ln w="12700">
            <a:solidFill>
              <a:srgbClr val="E35205"/>
            </a:solidFill>
            <a:prstDash val="solid"/>
          </a:ln>
        </p:spPr>
      </p:sp>
      <p:pic>
        <p:nvPicPr>
          <p:cNvPr id="10" name="Image 1" descr="preencoded.png">    </p:cNvPr>
          <p:cNvPicPr>
            <a:picLocks noChangeAspect="1"/>
          </p:cNvPicPr>
          <p:nvPr/>
        </p:nvPicPr>
        <p:blipFill>
          <a:blip r:embed="rId2"/>
          <a:stretch>
            <a:fillRect/>
          </a:stretch>
        </p:blipFill>
        <p:spPr>
          <a:xfrm>
            <a:off x="3211373" y="2059229"/>
            <a:ext cx="307238" cy="307238"/>
          </a:xfrm>
          <a:prstGeom prst="rect">
            <a:avLst/>
          </a:prstGeom>
        </p:spPr>
      </p:pic>
      <p:sp>
        <p:nvSpPr>
          <p:cNvPr id="11" name="Text 7"/>
          <p:cNvSpPr txBox="1"/>
          <p:nvPr/>
        </p:nvSpPr>
        <p:spPr>
          <a:xfrm>
            <a:off x="3749040" y="1874520"/>
            <a:ext cx="1874520" cy="347472"/>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Active Directory</a:t>
            </a:r>
            <a:endParaRPr lang="en-US" sz="1500" dirty="0"/>
          </a:p>
        </p:txBody>
      </p:sp>
      <p:sp>
        <p:nvSpPr>
          <p:cNvPr id="12" name="Text 8"/>
          <p:cNvSpPr txBox="1"/>
          <p:nvPr/>
        </p:nvSpPr>
        <p:spPr>
          <a:xfrm>
            <a:off x="3749040" y="2221992"/>
            <a:ext cx="1874520" cy="32004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name, manager, email</a:t>
            </a:r>
            <a:endParaRPr lang="en-US" sz="1200" dirty="0"/>
          </a:p>
        </p:txBody>
      </p:sp>
      <p:sp>
        <p:nvSpPr>
          <p:cNvPr id="13" name="Shape 9"/>
          <p:cNvSpPr/>
          <p:nvPr/>
        </p:nvSpPr>
        <p:spPr>
          <a:xfrm flipV="1">
            <a:off x="2286000" y="3538728"/>
            <a:ext cx="640080" cy="-1321308"/>
          </a:xfrm>
          <a:prstGeom prst="line">
            <a:avLst/>
          </a:prstGeom>
          <a:noFill/>
          <a:ln w="25400">
            <a:solidFill>
              <a:srgbClr val="9CA3AF"/>
            </a:solidFill>
            <a:prstDash val="solid"/>
            <a:tailEnd type="triangle"/>
          </a:ln>
        </p:spPr>
      </p:sp>
      <p:sp>
        <p:nvSpPr>
          <p:cNvPr id="14" name="Shape 10"/>
          <p:cNvSpPr/>
          <p:nvPr/>
        </p:nvSpPr>
        <p:spPr>
          <a:xfrm>
            <a:off x="5669280" y="2217420"/>
            <a:ext cx="640080" cy="1321308"/>
          </a:xfrm>
          <a:prstGeom prst="line">
            <a:avLst/>
          </a:prstGeom>
          <a:noFill/>
          <a:ln w="25400">
            <a:solidFill>
              <a:srgbClr val="9CA3AF"/>
            </a:solidFill>
            <a:prstDash val="solid"/>
            <a:tailEnd type="triangle"/>
          </a:ln>
        </p:spPr>
      </p:sp>
      <p:sp>
        <p:nvSpPr>
          <p:cNvPr id="15" name="Shape 11"/>
          <p:cNvSpPr/>
          <p:nvPr/>
        </p:nvSpPr>
        <p:spPr>
          <a:xfrm>
            <a:off x="2926080" y="3017520"/>
            <a:ext cx="2743200" cy="1051560"/>
          </a:xfrm>
          <a:prstGeom prst="roundRect">
            <a:avLst>
              <a:gd name="adj" fmla="val 8696"/>
            </a:avLst>
          </a:prstGeom>
          <a:solidFill>
            <a:srgbClr val="FDF0E8"/>
          </a:solidFill>
          <a:ln w="12700">
            <a:solidFill>
              <a:srgbClr val="FDF0E8"/>
            </a:solidFill>
            <a:prstDash val="solid"/>
          </a:ln>
        </p:spPr>
      </p:sp>
      <p:sp>
        <p:nvSpPr>
          <p:cNvPr id="16" name="Shape 12"/>
          <p:cNvSpPr/>
          <p:nvPr/>
        </p:nvSpPr>
        <p:spPr>
          <a:xfrm>
            <a:off x="3090672" y="3264408"/>
            <a:ext cx="548640" cy="548640"/>
          </a:xfrm>
          <a:prstGeom prst="ellipse">
            <a:avLst/>
          </a:prstGeom>
          <a:solidFill>
            <a:srgbClr val="E35205"/>
          </a:solidFill>
          <a:ln w="12700">
            <a:solidFill>
              <a:srgbClr val="E35205"/>
            </a:solidFill>
            <a:prstDash val="solid"/>
          </a:ln>
        </p:spPr>
      </p:sp>
      <p:pic>
        <p:nvPicPr>
          <p:cNvPr id="17" name="Image 2" descr="preencoded.png">    </p:cNvPr>
          <p:cNvPicPr>
            <a:picLocks noChangeAspect="1"/>
          </p:cNvPicPr>
          <p:nvPr/>
        </p:nvPicPr>
        <p:blipFill>
          <a:blip r:embed="rId3"/>
          <a:stretch>
            <a:fillRect/>
          </a:stretch>
        </p:blipFill>
        <p:spPr>
          <a:xfrm>
            <a:off x="3211373" y="3385109"/>
            <a:ext cx="307238" cy="307238"/>
          </a:xfrm>
          <a:prstGeom prst="rect">
            <a:avLst/>
          </a:prstGeom>
        </p:spPr>
      </p:pic>
      <p:sp>
        <p:nvSpPr>
          <p:cNvPr id="18" name="Text 13"/>
          <p:cNvSpPr txBox="1"/>
          <p:nvPr/>
        </p:nvSpPr>
        <p:spPr>
          <a:xfrm>
            <a:off x="3749040" y="3200400"/>
            <a:ext cx="1874520" cy="347472"/>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SSRS asset report</a:t>
            </a:r>
            <a:endParaRPr lang="en-US" sz="1500" dirty="0"/>
          </a:p>
        </p:txBody>
      </p:sp>
      <p:sp>
        <p:nvSpPr>
          <p:cNvPr id="19" name="Text 14"/>
          <p:cNvSpPr txBox="1"/>
          <p:nvPr/>
        </p:nvSpPr>
        <p:spPr>
          <a:xfrm>
            <a:off x="3749040" y="3547872"/>
            <a:ext cx="1874520" cy="32004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type, new laptop</a:t>
            </a:r>
            <a:endParaRPr lang="en-US" sz="1200" dirty="0"/>
          </a:p>
        </p:txBody>
      </p:sp>
      <p:sp>
        <p:nvSpPr>
          <p:cNvPr id="20" name="Shape 15"/>
          <p:cNvSpPr/>
          <p:nvPr/>
        </p:nvSpPr>
        <p:spPr>
          <a:xfrm>
            <a:off x="2286000" y="3538728"/>
            <a:ext cx="640080" cy="4572"/>
          </a:xfrm>
          <a:prstGeom prst="line">
            <a:avLst/>
          </a:prstGeom>
          <a:noFill/>
          <a:ln w="25400">
            <a:solidFill>
              <a:srgbClr val="9CA3AF"/>
            </a:solidFill>
            <a:prstDash val="solid"/>
            <a:tailEnd type="triangle"/>
          </a:ln>
        </p:spPr>
      </p:sp>
      <p:sp>
        <p:nvSpPr>
          <p:cNvPr id="21" name="Shape 16"/>
          <p:cNvSpPr/>
          <p:nvPr/>
        </p:nvSpPr>
        <p:spPr>
          <a:xfrm flipV="1">
            <a:off x="5669280" y="3543300"/>
            <a:ext cx="640080" cy="-4572"/>
          </a:xfrm>
          <a:prstGeom prst="line">
            <a:avLst/>
          </a:prstGeom>
          <a:noFill/>
          <a:ln w="25400">
            <a:solidFill>
              <a:srgbClr val="9CA3AF"/>
            </a:solidFill>
            <a:prstDash val="solid"/>
            <a:tailEnd type="triangle"/>
          </a:ln>
        </p:spPr>
      </p:sp>
      <p:sp>
        <p:nvSpPr>
          <p:cNvPr id="22" name="Shape 17"/>
          <p:cNvSpPr/>
          <p:nvPr/>
        </p:nvSpPr>
        <p:spPr>
          <a:xfrm>
            <a:off x="2926080" y="4343400"/>
            <a:ext cx="2743200" cy="1051560"/>
          </a:xfrm>
          <a:prstGeom prst="roundRect">
            <a:avLst>
              <a:gd name="adj" fmla="val 8696"/>
            </a:avLst>
          </a:prstGeom>
          <a:solidFill>
            <a:srgbClr val="FDF0E8"/>
          </a:solidFill>
          <a:ln w="12700">
            <a:solidFill>
              <a:srgbClr val="FDF0E8"/>
            </a:solidFill>
            <a:prstDash val="solid"/>
          </a:ln>
        </p:spPr>
      </p:sp>
      <p:sp>
        <p:nvSpPr>
          <p:cNvPr id="23" name="Shape 18"/>
          <p:cNvSpPr/>
          <p:nvPr/>
        </p:nvSpPr>
        <p:spPr>
          <a:xfrm>
            <a:off x="3090672" y="4590288"/>
            <a:ext cx="548640" cy="548640"/>
          </a:xfrm>
          <a:prstGeom prst="ellipse">
            <a:avLst/>
          </a:prstGeom>
          <a:solidFill>
            <a:srgbClr val="E35205"/>
          </a:solidFill>
          <a:ln w="12700">
            <a:solidFill>
              <a:srgbClr val="E35205"/>
            </a:solidFill>
            <a:prstDash val="solid"/>
          </a:ln>
        </p:spPr>
      </p:sp>
      <p:pic>
        <p:nvPicPr>
          <p:cNvPr id="24" name="Image 3" descr="preencoded.png">    </p:cNvPr>
          <p:cNvPicPr>
            <a:picLocks noChangeAspect="1"/>
          </p:cNvPicPr>
          <p:nvPr/>
        </p:nvPicPr>
        <p:blipFill>
          <a:blip r:embed="rId4"/>
          <a:stretch>
            <a:fillRect/>
          </a:stretch>
        </p:blipFill>
        <p:spPr>
          <a:xfrm>
            <a:off x="3211373" y="4710989"/>
            <a:ext cx="307238" cy="307238"/>
          </a:xfrm>
          <a:prstGeom prst="rect">
            <a:avLst/>
          </a:prstGeom>
        </p:spPr>
      </p:pic>
      <p:sp>
        <p:nvSpPr>
          <p:cNvPr id="25" name="Text 19"/>
          <p:cNvSpPr txBox="1"/>
          <p:nvPr/>
        </p:nvSpPr>
        <p:spPr>
          <a:xfrm>
            <a:off x="3749040" y="4526280"/>
            <a:ext cx="1874520" cy="347472"/>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TracIT EUC report</a:t>
            </a:r>
            <a:endParaRPr lang="en-US" sz="1500" dirty="0"/>
          </a:p>
        </p:txBody>
      </p:sp>
      <p:sp>
        <p:nvSpPr>
          <p:cNvPr id="26" name="Text 20"/>
          <p:cNvSpPr txBox="1"/>
          <p:nvPr/>
        </p:nvSpPr>
        <p:spPr>
          <a:xfrm>
            <a:off x="3749040" y="4873752"/>
            <a:ext cx="1874520" cy="32004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current laptop serial</a:t>
            </a:r>
            <a:endParaRPr lang="en-US" sz="1200" dirty="0"/>
          </a:p>
        </p:txBody>
      </p:sp>
      <p:sp>
        <p:nvSpPr>
          <p:cNvPr id="27" name="Shape 21"/>
          <p:cNvSpPr/>
          <p:nvPr/>
        </p:nvSpPr>
        <p:spPr>
          <a:xfrm>
            <a:off x="2286000" y="3538728"/>
            <a:ext cx="640080" cy="1330452"/>
          </a:xfrm>
          <a:prstGeom prst="line">
            <a:avLst/>
          </a:prstGeom>
          <a:noFill/>
          <a:ln w="25400">
            <a:solidFill>
              <a:srgbClr val="9CA3AF"/>
            </a:solidFill>
            <a:prstDash val="solid"/>
            <a:tailEnd type="triangle"/>
          </a:ln>
        </p:spPr>
      </p:sp>
      <p:sp>
        <p:nvSpPr>
          <p:cNvPr id="28" name="Shape 22"/>
          <p:cNvSpPr/>
          <p:nvPr/>
        </p:nvSpPr>
        <p:spPr>
          <a:xfrm flipV="1">
            <a:off x="5669280" y="4869180"/>
            <a:ext cx="640080" cy="-1330452"/>
          </a:xfrm>
          <a:prstGeom prst="line">
            <a:avLst/>
          </a:prstGeom>
          <a:noFill/>
          <a:ln w="25400">
            <a:solidFill>
              <a:srgbClr val="9CA3AF"/>
            </a:solidFill>
            <a:prstDash val="solid"/>
            <a:tailEnd type="triangle"/>
          </a:ln>
        </p:spPr>
      </p:sp>
      <p:sp>
        <p:nvSpPr>
          <p:cNvPr id="29" name="Shape 23"/>
          <p:cNvSpPr/>
          <p:nvPr/>
        </p:nvSpPr>
        <p:spPr>
          <a:xfrm>
            <a:off x="6309360" y="2743200"/>
            <a:ext cx="2286000" cy="1600200"/>
          </a:xfrm>
          <a:prstGeom prst="roundRect">
            <a:avLst>
              <a:gd name="adj" fmla="val 5714"/>
            </a:avLst>
          </a:prstGeom>
          <a:solidFill>
            <a:srgbClr val="0B1F3A"/>
          </a:solidFill>
          <a:ln w="12700">
            <a:solidFill>
              <a:srgbClr val="0B1F3A"/>
            </a:solidFill>
            <a:prstDash val="solid"/>
          </a:ln>
        </p:spPr>
      </p:sp>
      <p:sp>
        <p:nvSpPr>
          <p:cNvPr id="30" name="Shape 24"/>
          <p:cNvSpPr/>
          <p:nvPr/>
        </p:nvSpPr>
        <p:spPr>
          <a:xfrm>
            <a:off x="7178040" y="2880360"/>
            <a:ext cx="548640" cy="548640"/>
          </a:xfrm>
          <a:prstGeom prst="ellipse">
            <a:avLst/>
          </a:prstGeom>
          <a:solidFill>
            <a:srgbClr val="FFFFFF"/>
          </a:solidFill>
          <a:ln w="12700">
            <a:solidFill>
              <a:srgbClr val="FFFFFF"/>
            </a:solidFill>
            <a:prstDash val="solid"/>
          </a:ln>
        </p:spPr>
      </p:sp>
      <p:pic>
        <p:nvPicPr>
          <p:cNvPr id="31" name="Image 4" descr="preencoded.png">    </p:cNvPr>
          <p:cNvPicPr>
            <a:picLocks noChangeAspect="1"/>
          </p:cNvPicPr>
          <p:nvPr/>
        </p:nvPicPr>
        <p:blipFill>
          <a:blip r:embed="rId5"/>
          <a:stretch>
            <a:fillRect/>
          </a:stretch>
        </p:blipFill>
        <p:spPr>
          <a:xfrm>
            <a:off x="7298741" y="3001061"/>
            <a:ext cx="307238" cy="307238"/>
          </a:xfrm>
          <a:prstGeom prst="rect">
            <a:avLst/>
          </a:prstGeom>
        </p:spPr>
      </p:pic>
      <p:sp>
        <p:nvSpPr>
          <p:cNvPr id="32" name="Text 25"/>
          <p:cNvSpPr txBox="1"/>
          <p:nvPr/>
        </p:nvSpPr>
        <p:spPr>
          <a:xfrm>
            <a:off x="6400800" y="3520440"/>
            <a:ext cx="21031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 Word template → PDF → 2 digital signatures</a:t>
            </a:r>
            <a:endParaRPr lang="en-US" sz="1300" dirty="0"/>
          </a:p>
        </p:txBody>
      </p:sp>
      <p:sp>
        <p:nvSpPr>
          <p:cNvPr id="33" name="Shape 26"/>
          <p:cNvSpPr/>
          <p:nvPr/>
        </p:nvSpPr>
        <p:spPr>
          <a:xfrm>
            <a:off x="9235440" y="1691640"/>
            <a:ext cx="2423160" cy="1051560"/>
          </a:xfrm>
          <a:prstGeom prst="roundRect">
            <a:avLst>
              <a:gd name="adj" fmla="val 8696"/>
            </a:avLst>
          </a:prstGeom>
          <a:solidFill>
            <a:srgbClr val="F3F4F6"/>
          </a:solidFill>
          <a:ln w="12700">
            <a:solidFill>
              <a:srgbClr val="F3F4F6"/>
            </a:solidFill>
            <a:prstDash val="solid"/>
          </a:ln>
        </p:spPr>
      </p:sp>
      <p:sp>
        <p:nvSpPr>
          <p:cNvPr id="34" name="Shape 27"/>
          <p:cNvSpPr/>
          <p:nvPr/>
        </p:nvSpPr>
        <p:spPr>
          <a:xfrm>
            <a:off x="9372600" y="1938528"/>
            <a:ext cx="548640" cy="548640"/>
          </a:xfrm>
          <a:prstGeom prst="ellipse">
            <a:avLst/>
          </a:prstGeom>
          <a:solidFill>
            <a:srgbClr val="0B1F3A"/>
          </a:solidFill>
          <a:ln w="12700">
            <a:solidFill>
              <a:srgbClr val="0B1F3A"/>
            </a:solidFill>
            <a:prstDash val="solid"/>
          </a:ln>
        </p:spPr>
      </p:sp>
      <p:pic>
        <p:nvPicPr>
          <p:cNvPr id="35" name="Image 5" descr="preencoded.png">    </p:cNvPr>
          <p:cNvPicPr>
            <a:picLocks noChangeAspect="1"/>
          </p:cNvPicPr>
          <p:nvPr/>
        </p:nvPicPr>
        <p:blipFill>
          <a:blip r:embed="rId6"/>
          <a:stretch>
            <a:fillRect/>
          </a:stretch>
        </p:blipFill>
        <p:spPr>
          <a:xfrm>
            <a:off x="9493301" y="2059229"/>
            <a:ext cx="307238" cy="307238"/>
          </a:xfrm>
          <a:prstGeom prst="rect">
            <a:avLst/>
          </a:prstGeom>
        </p:spPr>
      </p:pic>
      <p:sp>
        <p:nvSpPr>
          <p:cNvPr id="36" name="Text 28"/>
          <p:cNvSpPr txBox="1"/>
          <p:nvPr/>
        </p:nvSpPr>
        <p:spPr>
          <a:xfrm>
            <a:off x="10058400" y="1874520"/>
            <a:ext cx="1554480" cy="347472"/>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Saved automatically</a:t>
            </a:r>
            <a:endParaRPr lang="en-US" sz="1400" dirty="0"/>
          </a:p>
        </p:txBody>
      </p:sp>
      <p:sp>
        <p:nvSpPr>
          <p:cNvPr id="37" name="Text 29"/>
          <p:cNvSpPr txBox="1"/>
          <p:nvPr/>
        </p:nvSpPr>
        <p:spPr>
          <a:xfrm>
            <a:off x="10058400" y="2194560"/>
            <a:ext cx="1554480" cy="5029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Type / Date / Operator folders</a:t>
            </a:r>
            <a:endParaRPr lang="en-US" sz="1100" dirty="0"/>
          </a:p>
        </p:txBody>
      </p:sp>
      <p:sp>
        <p:nvSpPr>
          <p:cNvPr id="38" name="Shape 30"/>
          <p:cNvSpPr/>
          <p:nvPr/>
        </p:nvSpPr>
        <p:spPr>
          <a:xfrm flipV="1">
            <a:off x="8595360" y="3538728"/>
            <a:ext cx="640080" cy="-1321308"/>
          </a:xfrm>
          <a:prstGeom prst="line">
            <a:avLst/>
          </a:prstGeom>
          <a:noFill/>
          <a:ln w="25400">
            <a:solidFill>
              <a:srgbClr val="9CA3AF"/>
            </a:solidFill>
            <a:prstDash val="solid"/>
            <a:tailEnd type="triangle"/>
          </a:ln>
        </p:spPr>
      </p:sp>
      <p:sp>
        <p:nvSpPr>
          <p:cNvPr id="39" name="Shape 31"/>
          <p:cNvSpPr/>
          <p:nvPr/>
        </p:nvSpPr>
        <p:spPr>
          <a:xfrm>
            <a:off x="9235440" y="3017520"/>
            <a:ext cx="2423160" cy="1051560"/>
          </a:xfrm>
          <a:prstGeom prst="roundRect">
            <a:avLst>
              <a:gd name="adj" fmla="val 8696"/>
            </a:avLst>
          </a:prstGeom>
          <a:solidFill>
            <a:srgbClr val="F3F4F6"/>
          </a:solidFill>
          <a:ln w="12700">
            <a:solidFill>
              <a:srgbClr val="F3F4F6"/>
            </a:solidFill>
            <a:prstDash val="solid"/>
          </a:ln>
        </p:spPr>
      </p:sp>
      <p:sp>
        <p:nvSpPr>
          <p:cNvPr id="40" name="Shape 32"/>
          <p:cNvSpPr/>
          <p:nvPr/>
        </p:nvSpPr>
        <p:spPr>
          <a:xfrm>
            <a:off x="9372600" y="3264408"/>
            <a:ext cx="548640" cy="548640"/>
          </a:xfrm>
          <a:prstGeom prst="ellipse">
            <a:avLst/>
          </a:prstGeom>
          <a:solidFill>
            <a:srgbClr val="0B1F3A"/>
          </a:solidFill>
          <a:ln w="12700">
            <a:solidFill>
              <a:srgbClr val="0B1F3A"/>
            </a:solidFill>
            <a:prstDash val="solid"/>
          </a:ln>
        </p:spPr>
      </p:sp>
      <p:pic>
        <p:nvPicPr>
          <p:cNvPr id="41" name="Image 6" descr="preencoded.png">    </p:cNvPr>
          <p:cNvPicPr>
            <a:picLocks noChangeAspect="1"/>
          </p:cNvPicPr>
          <p:nvPr/>
        </p:nvPicPr>
        <p:blipFill>
          <a:blip r:embed="rId7"/>
          <a:stretch>
            <a:fillRect/>
          </a:stretch>
        </p:blipFill>
        <p:spPr>
          <a:xfrm>
            <a:off x="9493301" y="3385109"/>
            <a:ext cx="307238" cy="307238"/>
          </a:xfrm>
          <a:prstGeom prst="rect">
            <a:avLst/>
          </a:prstGeom>
        </p:spPr>
      </p:pic>
      <p:sp>
        <p:nvSpPr>
          <p:cNvPr id="42" name="Text 33"/>
          <p:cNvSpPr txBox="1"/>
          <p:nvPr/>
        </p:nvSpPr>
        <p:spPr>
          <a:xfrm>
            <a:off x="10058400" y="3200400"/>
            <a:ext cx="1554480" cy="347472"/>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Outlook draft</a:t>
            </a:r>
            <a:endParaRPr lang="en-US" sz="1400" dirty="0"/>
          </a:p>
        </p:txBody>
      </p:sp>
      <p:sp>
        <p:nvSpPr>
          <p:cNvPr id="43" name="Text 34"/>
          <p:cNvSpPr txBox="1"/>
          <p:nvPr/>
        </p:nvSpPr>
        <p:spPr>
          <a:xfrm>
            <a:off x="10058400" y="3520440"/>
            <a:ext cx="1554480" cy="5029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for LWD returns (never auto-sent)</a:t>
            </a:r>
            <a:endParaRPr lang="en-US" sz="1100" dirty="0"/>
          </a:p>
        </p:txBody>
      </p:sp>
      <p:sp>
        <p:nvSpPr>
          <p:cNvPr id="44" name="Shape 35"/>
          <p:cNvSpPr/>
          <p:nvPr/>
        </p:nvSpPr>
        <p:spPr>
          <a:xfrm>
            <a:off x="8595360" y="3538728"/>
            <a:ext cx="640080" cy="4572"/>
          </a:xfrm>
          <a:prstGeom prst="line">
            <a:avLst/>
          </a:prstGeom>
          <a:noFill/>
          <a:ln w="25400">
            <a:solidFill>
              <a:srgbClr val="9CA3AF"/>
            </a:solidFill>
            <a:prstDash val="solid"/>
            <a:tailEnd type="triangle"/>
          </a:ln>
        </p:spPr>
      </p:sp>
      <p:sp>
        <p:nvSpPr>
          <p:cNvPr id="45" name="Shape 36"/>
          <p:cNvSpPr/>
          <p:nvPr/>
        </p:nvSpPr>
        <p:spPr>
          <a:xfrm>
            <a:off x="9235440" y="4343400"/>
            <a:ext cx="2423160" cy="1051560"/>
          </a:xfrm>
          <a:prstGeom prst="roundRect">
            <a:avLst>
              <a:gd name="adj" fmla="val 8696"/>
            </a:avLst>
          </a:prstGeom>
          <a:solidFill>
            <a:srgbClr val="F3F4F6"/>
          </a:solidFill>
          <a:ln w="12700">
            <a:solidFill>
              <a:srgbClr val="F3F4F6"/>
            </a:solidFill>
            <a:prstDash val="solid"/>
          </a:ln>
        </p:spPr>
      </p:sp>
      <p:sp>
        <p:nvSpPr>
          <p:cNvPr id="46" name="Shape 37"/>
          <p:cNvSpPr/>
          <p:nvPr/>
        </p:nvSpPr>
        <p:spPr>
          <a:xfrm>
            <a:off x="9372600" y="4590288"/>
            <a:ext cx="548640" cy="548640"/>
          </a:xfrm>
          <a:prstGeom prst="ellipse">
            <a:avLst/>
          </a:prstGeom>
          <a:solidFill>
            <a:srgbClr val="0B1F3A"/>
          </a:solidFill>
          <a:ln w="12700">
            <a:solidFill>
              <a:srgbClr val="0B1F3A"/>
            </a:solidFill>
            <a:prstDash val="solid"/>
          </a:ln>
        </p:spPr>
      </p:sp>
      <p:pic>
        <p:nvPicPr>
          <p:cNvPr id="47" name="Image 7" descr="preencoded.png">    </p:cNvPr>
          <p:cNvPicPr>
            <a:picLocks noChangeAspect="1"/>
          </p:cNvPicPr>
          <p:nvPr/>
        </p:nvPicPr>
        <p:blipFill>
          <a:blip r:embed="rId8"/>
          <a:stretch>
            <a:fillRect/>
          </a:stretch>
        </p:blipFill>
        <p:spPr>
          <a:xfrm>
            <a:off x="9493301" y="4710989"/>
            <a:ext cx="307238" cy="307238"/>
          </a:xfrm>
          <a:prstGeom prst="rect">
            <a:avLst/>
          </a:prstGeom>
        </p:spPr>
      </p:pic>
      <p:sp>
        <p:nvSpPr>
          <p:cNvPr id="48" name="Text 38"/>
          <p:cNvSpPr txBox="1"/>
          <p:nvPr/>
        </p:nvSpPr>
        <p:spPr>
          <a:xfrm>
            <a:off x="10058400" y="4526280"/>
            <a:ext cx="1554480" cy="347472"/>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Audit log</a:t>
            </a:r>
            <a:endParaRPr lang="en-US" sz="1400" dirty="0"/>
          </a:p>
        </p:txBody>
      </p:sp>
      <p:sp>
        <p:nvSpPr>
          <p:cNvPr id="49" name="Text 39"/>
          <p:cNvSpPr txBox="1"/>
          <p:nvPr/>
        </p:nvSpPr>
        <p:spPr>
          <a:xfrm>
            <a:off x="10058400" y="4846320"/>
            <a:ext cx="1554480" cy="5029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who, when, employee, type</a:t>
            </a:r>
            <a:endParaRPr lang="en-US" sz="1100" dirty="0"/>
          </a:p>
        </p:txBody>
      </p:sp>
      <p:sp>
        <p:nvSpPr>
          <p:cNvPr id="50" name="Shape 40"/>
          <p:cNvSpPr/>
          <p:nvPr/>
        </p:nvSpPr>
        <p:spPr>
          <a:xfrm>
            <a:off x="8595360" y="3538728"/>
            <a:ext cx="640080" cy="1330452"/>
          </a:xfrm>
          <a:prstGeom prst="line">
            <a:avLst/>
          </a:prstGeom>
          <a:noFill/>
          <a:ln w="25400">
            <a:solidFill>
              <a:srgbClr val="9CA3AF"/>
            </a:solidFill>
            <a:prstDash val="solid"/>
            <a:tailEnd type="triangle"/>
          </a:ln>
        </p:spPr>
      </p:sp>
      <p:sp>
        <p:nvSpPr>
          <p:cNvPr id="51" name="Text 4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Bulk days: paste a list of IDs, the app does the rest</a:t>
            </a:r>
            <a:endParaRPr lang="en-US" sz="3200" dirty="0"/>
          </a:p>
        </p:txBody>
      </p:sp>
      <p:sp>
        <p:nvSpPr>
          <p:cNvPr id="3" name="Text 1"/>
          <p:cNvSpPr txBox="1"/>
          <p:nvPr/>
        </p:nvSpPr>
        <p:spPr>
          <a:xfrm>
            <a:off x="548640" y="1417320"/>
            <a:ext cx="3749040" cy="43891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Paste Employee IDs straight from Excel or an email</a:t>
            </a:r>
            <a:endParaRPr lang="en-US" sz="1600" dirty="0"/>
          </a:p>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Names &amp; managers fill in automatically in the background</a:t>
            </a:r>
            <a:endParaRPr lang="en-US" sz="1600" dirty="0"/>
          </a:p>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Type and serials come from SSRS and TracIT</a:t>
            </a:r>
            <a:endParaRPr lang="en-US" sz="1600" dirty="0"/>
          </a:p>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Work through the list, or let it auto-advance</a:t>
            </a:r>
            <a:endParaRPr lang="en-US" sz="1600" dirty="0"/>
          </a:p>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Only stops where a person is needed: signatures</a:t>
            </a:r>
            <a:endParaRPr lang="en-US" sz="1600" dirty="0"/>
          </a:p>
        </p:txBody>
      </p:sp>
      <p:sp>
        <p:nvSpPr>
          <p:cNvPr id="4" name="Shape 2"/>
          <p:cNvSpPr/>
          <p:nvPr/>
        </p:nvSpPr>
        <p:spPr>
          <a:xfrm>
            <a:off x="4489704" y="1335024"/>
            <a:ext cx="7205472" cy="4530852"/>
          </a:xfrm>
          <a:prstGeom prst="rect">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pic>
        <p:nvPicPr>
          <p:cNvPr id="5" name="Image 0" descr="/tmp/work/deck/shots/04_bulk.png">    </p:cNvPr>
          <p:cNvPicPr>
            <a:picLocks noChangeAspect="1"/>
          </p:cNvPicPr>
          <p:nvPr/>
        </p:nvPicPr>
        <p:blipFill>
          <a:blip r:embed="rId1"/>
          <a:stretch>
            <a:fillRect/>
          </a:stretch>
        </p:blipFill>
        <p:spPr>
          <a:xfrm>
            <a:off x="4526280" y="1371600"/>
            <a:ext cx="7132320" cy="4457700"/>
          </a:xfrm>
          <a:prstGeom prst="rect">
            <a:avLst/>
          </a:prstGeom>
        </p:spPr>
      </p:pic>
      <p:sp>
        <p:nvSpPr>
          <p:cNvPr id="6" name="Shape 3"/>
          <p:cNvSpPr/>
          <p:nvPr/>
        </p:nvSpPr>
        <p:spPr>
          <a:xfrm>
            <a:off x="4672584" y="3895344"/>
            <a:ext cx="1947672" cy="2011680"/>
          </a:xfrm>
          <a:prstGeom prst="rect">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pic>
        <p:nvPicPr>
          <p:cNvPr id="7" name="Image 1" descr="/tmp/work/deck/shots/03_paste_crop.png">    </p:cNvPr>
          <p:cNvPicPr>
            <a:picLocks noChangeAspect="1"/>
          </p:cNvPicPr>
          <p:nvPr/>
        </p:nvPicPr>
        <p:blipFill>
          <a:blip r:embed="rId2"/>
          <a:stretch>
            <a:fillRect/>
          </a:stretch>
        </p:blipFill>
        <p:spPr>
          <a:xfrm>
            <a:off x="4709160" y="3931920"/>
            <a:ext cx="1874520" cy="1938528"/>
          </a:xfrm>
          <a:prstGeom prst="rect">
            <a:avLst/>
          </a:prstGeom>
        </p:spPr>
      </p:pic>
      <p:sp>
        <p:nvSpPr>
          <p:cNvPr id="8" name="Text 4"/>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The result: a signed PDF on the same BU form</a:t>
            </a:r>
            <a:endParaRPr lang="en-US" sz="3200" dirty="0"/>
          </a:p>
        </p:txBody>
      </p:sp>
      <p:sp>
        <p:nvSpPr>
          <p:cNvPr id="3" name="Shape 1"/>
          <p:cNvSpPr/>
          <p:nvPr/>
        </p:nvSpPr>
        <p:spPr>
          <a:xfrm>
            <a:off x="548640" y="1280160"/>
            <a:ext cx="3602736" cy="5074920"/>
          </a:xfrm>
          <a:prstGeom prst="rect">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pic>
        <p:nvPicPr>
          <p:cNvPr id="4" name="Image 0" descr="/tmp/work/deck/shots/06_pdf.png">    </p:cNvPr>
          <p:cNvPicPr>
            <a:picLocks noChangeAspect="1"/>
          </p:cNvPicPr>
          <p:nvPr/>
        </p:nvPicPr>
        <p:blipFill>
          <a:blip r:embed="rId1"/>
          <a:stretch>
            <a:fillRect/>
          </a:stretch>
        </p:blipFill>
        <p:spPr>
          <a:xfrm>
            <a:off x="576072" y="1307592"/>
            <a:ext cx="3547872" cy="5020056"/>
          </a:xfrm>
          <a:prstGeom prst="rect">
            <a:avLst/>
          </a:prstGeom>
        </p:spPr>
      </p:pic>
      <p:sp>
        <p:nvSpPr>
          <p:cNvPr id="5" name="Shape 2"/>
          <p:cNvSpPr/>
          <p:nvPr/>
        </p:nvSpPr>
        <p:spPr>
          <a:xfrm>
            <a:off x="4754880" y="1463040"/>
            <a:ext cx="566928" cy="566928"/>
          </a:xfrm>
          <a:prstGeom prst="ellipse">
            <a:avLst/>
          </a:prstGeom>
          <a:solidFill>
            <a:srgbClr val="E35205"/>
          </a:solidFill>
          <a:ln w="12700">
            <a:solidFill>
              <a:srgbClr val="E35205"/>
            </a:solidFill>
            <a:prstDash val="solid"/>
          </a:ln>
        </p:spPr>
      </p:sp>
      <p:pic>
        <p:nvPicPr>
          <p:cNvPr id="6" name="Image 1" descr="preencoded.png">    </p:cNvPr>
          <p:cNvPicPr>
            <a:picLocks noChangeAspect="1"/>
          </p:cNvPicPr>
          <p:nvPr/>
        </p:nvPicPr>
        <p:blipFill>
          <a:blip r:embed="rId2"/>
          <a:stretch>
            <a:fillRect/>
          </a:stretch>
        </p:blipFill>
        <p:spPr>
          <a:xfrm>
            <a:off x="4879604" y="1587764"/>
            <a:ext cx="317480" cy="317480"/>
          </a:xfrm>
          <a:prstGeom prst="rect">
            <a:avLst/>
          </a:prstGeom>
        </p:spPr>
      </p:pic>
      <p:sp>
        <p:nvSpPr>
          <p:cNvPr id="7" name="Text 3"/>
          <p:cNvSpPr txBox="1"/>
          <p:nvPr/>
        </p:nvSpPr>
        <p:spPr>
          <a:xfrm>
            <a:off x="5532120" y="1426464"/>
            <a:ext cx="6035040" cy="34747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Real digital signatures</a:t>
            </a:r>
            <a:endParaRPr lang="en-US" sz="1700" dirty="0"/>
          </a:p>
        </p:txBody>
      </p:sp>
      <p:sp>
        <p:nvSpPr>
          <p:cNvPr id="8" name="Text 4"/>
          <p:cNvSpPr txBox="1"/>
          <p:nvPr/>
        </p:nvSpPr>
        <p:spPr>
          <a:xfrm>
            <a:off x="5532120" y="1773936"/>
            <a:ext cx="60350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Employee and asset receiver - tamper-evident, checkable in Adobe's Signature panel</a:t>
            </a:r>
            <a:endParaRPr lang="en-US" sz="1300" dirty="0"/>
          </a:p>
        </p:txBody>
      </p:sp>
      <p:sp>
        <p:nvSpPr>
          <p:cNvPr id="9" name="Shape 5"/>
          <p:cNvSpPr/>
          <p:nvPr/>
        </p:nvSpPr>
        <p:spPr>
          <a:xfrm>
            <a:off x="4754880" y="2651760"/>
            <a:ext cx="566928" cy="566928"/>
          </a:xfrm>
          <a:prstGeom prst="ellipse">
            <a:avLst/>
          </a:prstGeom>
          <a:solidFill>
            <a:srgbClr val="E35205"/>
          </a:solidFill>
          <a:ln w="12700">
            <a:solidFill>
              <a:srgbClr val="E35205"/>
            </a:solidFill>
            <a:prstDash val="solid"/>
          </a:ln>
        </p:spPr>
      </p:sp>
      <p:pic>
        <p:nvPicPr>
          <p:cNvPr id="10" name="Image 2" descr="preencoded.png">    </p:cNvPr>
          <p:cNvPicPr>
            <a:picLocks noChangeAspect="1"/>
          </p:cNvPicPr>
          <p:nvPr/>
        </p:nvPicPr>
        <p:blipFill>
          <a:blip r:embed="rId3"/>
          <a:stretch>
            <a:fillRect/>
          </a:stretch>
        </p:blipFill>
        <p:spPr>
          <a:xfrm>
            <a:off x="4879604" y="2776484"/>
            <a:ext cx="317480" cy="317480"/>
          </a:xfrm>
          <a:prstGeom prst="rect">
            <a:avLst/>
          </a:prstGeom>
        </p:spPr>
      </p:pic>
      <p:sp>
        <p:nvSpPr>
          <p:cNvPr id="11" name="Text 6"/>
          <p:cNvSpPr txBox="1"/>
          <p:nvPr/>
        </p:nvSpPr>
        <p:spPr>
          <a:xfrm>
            <a:off x="5532120" y="2615184"/>
            <a:ext cx="6035040" cy="34747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Signed-on date &amp; time</a:t>
            </a:r>
            <a:endParaRPr lang="en-US" sz="1700" dirty="0"/>
          </a:p>
        </p:txBody>
      </p:sp>
      <p:sp>
        <p:nvSpPr>
          <p:cNvPr id="12" name="Text 7"/>
          <p:cNvSpPr txBox="1"/>
          <p:nvPr/>
        </p:nvSpPr>
        <p:spPr>
          <a:xfrm>
            <a:off x="5532120" y="2962656"/>
            <a:ext cx="60350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Printed under each signature automatically</a:t>
            </a:r>
            <a:endParaRPr lang="en-US" sz="1300" dirty="0"/>
          </a:p>
        </p:txBody>
      </p:sp>
      <p:sp>
        <p:nvSpPr>
          <p:cNvPr id="13" name="Shape 8"/>
          <p:cNvSpPr/>
          <p:nvPr/>
        </p:nvSpPr>
        <p:spPr>
          <a:xfrm>
            <a:off x="4754880" y="3840480"/>
            <a:ext cx="566928" cy="566928"/>
          </a:xfrm>
          <a:prstGeom prst="ellipse">
            <a:avLst/>
          </a:prstGeom>
          <a:solidFill>
            <a:srgbClr val="E35205"/>
          </a:solidFill>
          <a:ln w="12700">
            <a:solidFill>
              <a:srgbClr val="E35205"/>
            </a:solidFill>
            <a:prstDash val="solid"/>
          </a:ln>
        </p:spPr>
      </p:sp>
      <p:pic>
        <p:nvPicPr>
          <p:cNvPr id="14" name="Image 3" descr="preencoded.png">    </p:cNvPr>
          <p:cNvPicPr>
            <a:picLocks noChangeAspect="1"/>
          </p:cNvPicPr>
          <p:nvPr/>
        </p:nvPicPr>
        <p:blipFill>
          <a:blip r:embed="rId4"/>
          <a:stretch>
            <a:fillRect/>
          </a:stretch>
        </p:blipFill>
        <p:spPr>
          <a:xfrm>
            <a:off x="4879604" y="3965204"/>
            <a:ext cx="317480" cy="317480"/>
          </a:xfrm>
          <a:prstGeom prst="rect">
            <a:avLst/>
          </a:prstGeom>
        </p:spPr>
      </p:pic>
      <p:sp>
        <p:nvSpPr>
          <p:cNvPr id="15" name="Text 9"/>
          <p:cNvSpPr txBox="1"/>
          <p:nvPr/>
        </p:nvSpPr>
        <p:spPr>
          <a:xfrm>
            <a:off x="5532120" y="3803904"/>
            <a:ext cx="6035040" cy="34747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Filed the same way every time</a:t>
            </a:r>
            <a:endParaRPr lang="en-US" sz="1700" dirty="0"/>
          </a:p>
        </p:txBody>
      </p:sp>
      <p:sp>
        <p:nvSpPr>
          <p:cNvPr id="16" name="Text 10"/>
          <p:cNvSpPr txBox="1"/>
          <p:nvPr/>
        </p:nvSpPr>
        <p:spPr>
          <a:xfrm>
            <a:off x="5532120" y="4151376"/>
            <a:ext cx="60350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Type \ Date \ Operator \ EmpID_Type_time.pdf</a:t>
            </a:r>
            <a:endParaRPr lang="en-US" sz="1300" dirty="0"/>
          </a:p>
        </p:txBody>
      </p:sp>
      <p:sp>
        <p:nvSpPr>
          <p:cNvPr id="17" name="Shape 11"/>
          <p:cNvSpPr/>
          <p:nvPr/>
        </p:nvSpPr>
        <p:spPr>
          <a:xfrm>
            <a:off x="4754880" y="5029200"/>
            <a:ext cx="566928" cy="566928"/>
          </a:xfrm>
          <a:prstGeom prst="ellipse">
            <a:avLst/>
          </a:prstGeom>
          <a:solidFill>
            <a:srgbClr val="E35205"/>
          </a:solidFill>
          <a:ln w="12700">
            <a:solidFill>
              <a:srgbClr val="E35205"/>
            </a:solidFill>
            <a:prstDash val="solid"/>
          </a:ln>
        </p:spPr>
      </p:sp>
      <p:pic>
        <p:nvPicPr>
          <p:cNvPr id="18" name="Image 4" descr="preencoded.png">    </p:cNvPr>
          <p:cNvPicPr>
            <a:picLocks noChangeAspect="1"/>
          </p:cNvPicPr>
          <p:nvPr/>
        </p:nvPicPr>
        <p:blipFill>
          <a:blip r:embed="rId5"/>
          <a:stretch>
            <a:fillRect/>
          </a:stretch>
        </p:blipFill>
        <p:spPr>
          <a:xfrm>
            <a:off x="4879604" y="5153924"/>
            <a:ext cx="317480" cy="317480"/>
          </a:xfrm>
          <a:prstGeom prst="rect">
            <a:avLst/>
          </a:prstGeom>
        </p:spPr>
      </p:pic>
      <p:sp>
        <p:nvSpPr>
          <p:cNvPr id="19" name="Text 12"/>
          <p:cNvSpPr txBox="1"/>
          <p:nvPr/>
        </p:nvSpPr>
        <p:spPr>
          <a:xfrm>
            <a:off x="5532120" y="4992624"/>
            <a:ext cx="6035040" cy="34747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No Acrobat needed to create it</a:t>
            </a:r>
            <a:endParaRPr lang="en-US" sz="1700" dirty="0"/>
          </a:p>
        </p:txBody>
      </p:sp>
      <p:sp>
        <p:nvSpPr>
          <p:cNvPr id="20" name="Text 13"/>
          <p:cNvSpPr txBox="1"/>
          <p:nvPr/>
        </p:nvSpPr>
        <p:spPr>
          <a:xfrm>
            <a:off x="5532120" y="5340096"/>
            <a:ext cx="603504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The app signs the PDF itself; Topaz pad or on-screen signing</a:t>
            </a:r>
            <a:endParaRPr lang="en-US" sz="1300" dirty="0"/>
          </a:p>
        </p:txBody>
      </p:sp>
      <p:sp>
        <p:nvSpPr>
          <p:cNvPr id="21" name="Text 14"/>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Every form is logged and easy to find</a:t>
            </a:r>
            <a:endParaRPr lang="en-US" sz="3200" dirty="0"/>
          </a:p>
        </p:txBody>
      </p:sp>
      <p:sp>
        <p:nvSpPr>
          <p:cNvPr id="3" name="Shape 1"/>
          <p:cNvSpPr/>
          <p:nvPr/>
        </p:nvSpPr>
        <p:spPr>
          <a:xfrm>
            <a:off x="512064" y="1289304"/>
            <a:ext cx="7388352" cy="4645152"/>
          </a:xfrm>
          <a:prstGeom prst="rect">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pic>
        <p:nvPicPr>
          <p:cNvPr id="4" name="Image 0" descr="/tmp/work/deck/shots/05_history.png">    </p:cNvPr>
          <p:cNvPicPr>
            <a:picLocks noChangeAspect="1"/>
          </p:cNvPicPr>
          <p:nvPr/>
        </p:nvPicPr>
        <p:blipFill>
          <a:blip r:embed="rId1"/>
          <a:stretch>
            <a:fillRect/>
          </a:stretch>
        </p:blipFill>
        <p:spPr>
          <a:xfrm>
            <a:off x="548640" y="1325880"/>
            <a:ext cx="7315200" cy="4572000"/>
          </a:xfrm>
          <a:prstGeom prst="rect">
            <a:avLst/>
          </a:prstGeom>
        </p:spPr>
      </p:pic>
      <p:sp>
        <p:nvSpPr>
          <p:cNvPr id="5" name="Shape 2"/>
          <p:cNvSpPr/>
          <p:nvPr/>
        </p:nvSpPr>
        <p:spPr>
          <a:xfrm>
            <a:off x="8229600" y="1463040"/>
            <a:ext cx="566928" cy="566928"/>
          </a:xfrm>
          <a:prstGeom prst="ellipse">
            <a:avLst/>
          </a:prstGeom>
          <a:solidFill>
            <a:srgbClr val="E35205"/>
          </a:solidFill>
          <a:ln w="12700">
            <a:solidFill>
              <a:srgbClr val="E35205"/>
            </a:solidFill>
            <a:prstDash val="solid"/>
          </a:ln>
        </p:spPr>
      </p:sp>
      <p:pic>
        <p:nvPicPr>
          <p:cNvPr id="6" name="Image 1" descr="preencoded.png">    </p:cNvPr>
          <p:cNvPicPr>
            <a:picLocks noChangeAspect="1"/>
          </p:cNvPicPr>
          <p:nvPr/>
        </p:nvPicPr>
        <p:blipFill>
          <a:blip r:embed="rId2"/>
          <a:stretch>
            <a:fillRect/>
          </a:stretch>
        </p:blipFill>
        <p:spPr>
          <a:xfrm>
            <a:off x="8354324" y="1587764"/>
            <a:ext cx="317480" cy="317480"/>
          </a:xfrm>
          <a:prstGeom prst="rect">
            <a:avLst/>
          </a:prstGeom>
        </p:spPr>
      </p:pic>
      <p:sp>
        <p:nvSpPr>
          <p:cNvPr id="7" name="Text 3"/>
          <p:cNvSpPr txBox="1"/>
          <p:nvPr/>
        </p:nvSpPr>
        <p:spPr>
          <a:xfrm>
            <a:off x="8961120" y="1426464"/>
            <a:ext cx="2743200" cy="34747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Audit log</a:t>
            </a:r>
            <a:endParaRPr lang="en-US" sz="1700" dirty="0"/>
          </a:p>
        </p:txBody>
      </p:sp>
      <p:sp>
        <p:nvSpPr>
          <p:cNvPr id="8" name="Text 4"/>
          <p:cNvSpPr txBox="1"/>
          <p:nvPr/>
        </p:nvSpPr>
        <p:spPr>
          <a:xfrm>
            <a:off x="8961120" y="1773936"/>
            <a:ext cx="2743200" cy="8229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Time, operator, Employee ID, type, data source, file location - one line per form</a:t>
            </a:r>
            <a:endParaRPr lang="en-US" sz="1300" dirty="0"/>
          </a:p>
        </p:txBody>
      </p:sp>
      <p:sp>
        <p:nvSpPr>
          <p:cNvPr id="9" name="Shape 5"/>
          <p:cNvSpPr/>
          <p:nvPr/>
        </p:nvSpPr>
        <p:spPr>
          <a:xfrm>
            <a:off x="8229600" y="2926080"/>
            <a:ext cx="566928" cy="566928"/>
          </a:xfrm>
          <a:prstGeom prst="ellipse">
            <a:avLst/>
          </a:prstGeom>
          <a:solidFill>
            <a:srgbClr val="E35205"/>
          </a:solidFill>
          <a:ln w="12700">
            <a:solidFill>
              <a:srgbClr val="E35205"/>
            </a:solidFill>
            <a:prstDash val="solid"/>
          </a:ln>
        </p:spPr>
      </p:sp>
      <p:pic>
        <p:nvPicPr>
          <p:cNvPr id="10" name="Image 2" descr="preencoded.png">    </p:cNvPr>
          <p:cNvPicPr>
            <a:picLocks noChangeAspect="1"/>
          </p:cNvPicPr>
          <p:nvPr/>
        </p:nvPicPr>
        <p:blipFill>
          <a:blip r:embed="rId3"/>
          <a:stretch>
            <a:fillRect/>
          </a:stretch>
        </p:blipFill>
        <p:spPr>
          <a:xfrm>
            <a:off x="8354324" y="3050804"/>
            <a:ext cx="317480" cy="317480"/>
          </a:xfrm>
          <a:prstGeom prst="rect">
            <a:avLst/>
          </a:prstGeom>
        </p:spPr>
      </p:pic>
      <p:sp>
        <p:nvSpPr>
          <p:cNvPr id="11" name="Text 6"/>
          <p:cNvSpPr txBox="1"/>
          <p:nvPr/>
        </p:nvSpPr>
        <p:spPr>
          <a:xfrm>
            <a:off x="8961120" y="2889504"/>
            <a:ext cx="2743200" cy="34747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Search &amp; open</a:t>
            </a:r>
            <a:endParaRPr lang="en-US" sz="1700" dirty="0"/>
          </a:p>
        </p:txBody>
      </p:sp>
      <p:sp>
        <p:nvSpPr>
          <p:cNvPr id="12" name="Text 7"/>
          <p:cNvSpPr txBox="1"/>
          <p:nvPr/>
        </p:nvSpPr>
        <p:spPr>
          <a:xfrm>
            <a:off x="8961120" y="3236976"/>
            <a:ext cx="2743200" cy="8229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Find by ID or type, open the PDF or its folder in one click</a:t>
            </a:r>
            <a:endParaRPr lang="en-US" sz="1300" dirty="0"/>
          </a:p>
        </p:txBody>
      </p:sp>
      <p:sp>
        <p:nvSpPr>
          <p:cNvPr id="13" name="Shape 8"/>
          <p:cNvSpPr/>
          <p:nvPr/>
        </p:nvSpPr>
        <p:spPr>
          <a:xfrm>
            <a:off x="8229600" y="4389120"/>
            <a:ext cx="566928" cy="566928"/>
          </a:xfrm>
          <a:prstGeom prst="ellipse">
            <a:avLst/>
          </a:prstGeom>
          <a:solidFill>
            <a:srgbClr val="E35205"/>
          </a:solidFill>
          <a:ln w="12700">
            <a:solidFill>
              <a:srgbClr val="E35205"/>
            </a:solidFill>
            <a:prstDash val="solid"/>
          </a:ln>
        </p:spPr>
      </p:sp>
      <p:pic>
        <p:nvPicPr>
          <p:cNvPr id="14" name="Image 3" descr="preencoded.png">    </p:cNvPr>
          <p:cNvPicPr>
            <a:picLocks noChangeAspect="1"/>
          </p:cNvPicPr>
          <p:nvPr/>
        </p:nvPicPr>
        <p:blipFill>
          <a:blip r:embed="rId4"/>
          <a:stretch>
            <a:fillRect/>
          </a:stretch>
        </p:blipFill>
        <p:spPr>
          <a:xfrm>
            <a:off x="8354324" y="4513844"/>
            <a:ext cx="317480" cy="317480"/>
          </a:xfrm>
          <a:prstGeom prst="rect">
            <a:avLst/>
          </a:prstGeom>
        </p:spPr>
      </p:pic>
      <p:sp>
        <p:nvSpPr>
          <p:cNvPr id="15" name="Text 9"/>
          <p:cNvSpPr txBox="1"/>
          <p:nvPr/>
        </p:nvSpPr>
        <p:spPr>
          <a:xfrm>
            <a:off x="8961120" y="4352544"/>
            <a:ext cx="2743200" cy="34747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Details inside the PDF</a:t>
            </a:r>
            <a:endParaRPr lang="en-US" sz="1700" dirty="0"/>
          </a:p>
        </p:txBody>
      </p:sp>
      <p:sp>
        <p:nvSpPr>
          <p:cNvPr id="16" name="Text 10"/>
          <p:cNvSpPr txBox="1"/>
          <p:nvPr/>
        </p:nvSpPr>
        <p:spPr>
          <a:xfrm>
            <a:off x="8961120" y="4700016"/>
            <a:ext cx="2743200" cy="8229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Employee, type and operator stored in the PDF's properties</a:t>
            </a:r>
            <a:endParaRPr lang="en-US" sz="1300" dirty="0"/>
          </a:p>
        </p:txBody>
      </p:sp>
      <p:sp>
        <p:nvSpPr>
          <p:cNvPr id="17"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Built to be safe and simple to support</a:t>
            </a:r>
            <a:endParaRPr lang="en-US" sz="3200" dirty="0"/>
          </a:p>
        </p:txBody>
      </p:sp>
      <p:sp>
        <p:nvSpPr>
          <p:cNvPr id="3" name="Shape 1"/>
          <p:cNvSpPr/>
          <p:nvPr/>
        </p:nvSpPr>
        <p:spPr>
          <a:xfrm>
            <a:off x="548640" y="1417320"/>
            <a:ext cx="3520440" cy="2103120"/>
          </a:xfrm>
          <a:prstGeom prst="roundRect">
            <a:avLst>
              <a:gd name="adj" fmla="val 4348"/>
            </a:avLst>
          </a:prstGeom>
          <a:solidFill>
            <a:srgbClr val="FDF0E8"/>
          </a:solidFill>
          <a:ln w="12700">
            <a:solidFill>
              <a:srgbClr val="FDF0E8"/>
            </a:solidFill>
            <a:prstDash val="solid"/>
          </a:ln>
        </p:spPr>
      </p:sp>
      <p:sp>
        <p:nvSpPr>
          <p:cNvPr id="4" name="Shape 2"/>
          <p:cNvSpPr/>
          <p:nvPr/>
        </p:nvSpPr>
        <p:spPr>
          <a:xfrm>
            <a:off x="822960" y="1691640"/>
            <a:ext cx="548640" cy="548640"/>
          </a:xfrm>
          <a:prstGeom prst="ellipse">
            <a:avLst/>
          </a:prstGeom>
          <a:solidFill>
            <a:srgbClr val="E35205"/>
          </a:solidFill>
          <a:ln w="12700">
            <a:solidFill>
              <a:srgbClr val="E35205"/>
            </a:solidFill>
            <a:prstDash val="solid"/>
          </a:ln>
        </p:spPr>
      </p:sp>
      <p:pic>
        <p:nvPicPr>
          <p:cNvPr id="5" name="Image 0" descr="preencoded.png">    </p:cNvPr>
          <p:cNvPicPr>
            <a:picLocks noChangeAspect="1"/>
          </p:cNvPicPr>
          <p:nvPr/>
        </p:nvPicPr>
        <p:blipFill>
          <a:blip r:embed="rId1"/>
          <a:stretch>
            <a:fillRect/>
          </a:stretch>
        </p:blipFill>
        <p:spPr>
          <a:xfrm>
            <a:off x="943661" y="1812341"/>
            <a:ext cx="307238" cy="307238"/>
          </a:xfrm>
          <a:prstGeom prst="rect">
            <a:avLst/>
          </a:prstGeom>
        </p:spPr>
      </p:pic>
      <p:sp>
        <p:nvSpPr>
          <p:cNvPr id="6" name="Text 3"/>
          <p:cNvSpPr txBox="1"/>
          <p:nvPr/>
        </p:nvSpPr>
        <p:spPr>
          <a:xfrm>
            <a:off x="822960" y="2331720"/>
            <a:ext cx="3017520" cy="36576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Your own Windows login</a:t>
            </a:r>
            <a:endParaRPr lang="en-US" sz="1700" dirty="0"/>
          </a:p>
        </p:txBody>
      </p:sp>
      <p:sp>
        <p:nvSpPr>
          <p:cNvPr id="7" name="Text 4"/>
          <p:cNvSpPr txBox="1"/>
          <p:nvPr/>
        </p:nvSpPr>
        <p:spPr>
          <a:xfrm>
            <a:off x="822960" y="2715768"/>
            <a:ext cx="3017520"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AD and SSRS use the signed-in user. No passwords stored or typed in the app.</a:t>
            </a:r>
            <a:endParaRPr lang="en-US" sz="1300" dirty="0"/>
          </a:p>
        </p:txBody>
      </p:sp>
      <p:sp>
        <p:nvSpPr>
          <p:cNvPr id="8" name="Shape 5"/>
          <p:cNvSpPr/>
          <p:nvPr/>
        </p:nvSpPr>
        <p:spPr>
          <a:xfrm>
            <a:off x="4297680" y="1417320"/>
            <a:ext cx="3520440" cy="2103120"/>
          </a:xfrm>
          <a:prstGeom prst="roundRect">
            <a:avLst>
              <a:gd name="adj" fmla="val 4348"/>
            </a:avLst>
          </a:prstGeom>
          <a:solidFill>
            <a:srgbClr val="F3F4F6"/>
          </a:solidFill>
          <a:ln w="12700">
            <a:solidFill>
              <a:srgbClr val="F3F4F6"/>
            </a:solidFill>
            <a:prstDash val="solid"/>
          </a:ln>
        </p:spPr>
      </p:sp>
      <p:sp>
        <p:nvSpPr>
          <p:cNvPr id="9" name="Shape 6"/>
          <p:cNvSpPr/>
          <p:nvPr/>
        </p:nvSpPr>
        <p:spPr>
          <a:xfrm>
            <a:off x="4572000" y="1691640"/>
            <a:ext cx="548640" cy="548640"/>
          </a:xfrm>
          <a:prstGeom prst="ellipse">
            <a:avLst/>
          </a:prstGeom>
          <a:solidFill>
            <a:srgbClr val="0B1F3A"/>
          </a:solidFill>
          <a:ln w="12700">
            <a:solidFill>
              <a:srgbClr val="0B1F3A"/>
            </a:solidFill>
            <a:prstDash val="solid"/>
          </a:ln>
        </p:spPr>
      </p:sp>
      <p:pic>
        <p:nvPicPr>
          <p:cNvPr id="10" name="Image 1" descr="preencoded.png">    </p:cNvPr>
          <p:cNvPicPr>
            <a:picLocks noChangeAspect="1"/>
          </p:cNvPicPr>
          <p:nvPr/>
        </p:nvPicPr>
        <p:blipFill>
          <a:blip r:embed="rId2"/>
          <a:stretch>
            <a:fillRect/>
          </a:stretch>
        </p:blipFill>
        <p:spPr>
          <a:xfrm>
            <a:off x="4692701" y="1812341"/>
            <a:ext cx="307238" cy="307238"/>
          </a:xfrm>
          <a:prstGeom prst="rect">
            <a:avLst/>
          </a:prstGeom>
        </p:spPr>
      </p:pic>
      <p:sp>
        <p:nvSpPr>
          <p:cNvPr id="11" name="Text 7"/>
          <p:cNvSpPr txBox="1"/>
          <p:nvPr/>
        </p:nvSpPr>
        <p:spPr>
          <a:xfrm>
            <a:off x="4572000" y="2331720"/>
            <a:ext cx="3017520" cy="36576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Data stays inside</a:t>
            </a:r>
            <a:endParaRPr lang="en-US" sz="1700" dirty="0"/>
          </a:p>
        </p:txBody>
      </p:sp>
      <p:sp>
        <p:nvSpPr>
          <p:cNvPr id="12" name="Text 8"/>
          <p:cNvSpPr txBox="1"/>
          <p:nvPr/>
        </p:nvSpPr>
        <p:spPr>
          <a:xfrm>
            <a:off x="4572000" y="2715768"/>
            <a:ext cx="3017520"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Runs on the PC, talks only to our internal systems. Nothing goes to the cloud.</a:t>
            </a:r>
            <a:endParaRPr lang="en-US" sz="1300" dirty="0"/>
          </a:p>
        </p:txBody>
      </p:sp>
      <p:sp>
        <p:nvSpPr>
          <p:cNvPr id="13" name="Shape 9"/>
          <p:cNvSpPr/>
          <p:nvPr/>
        </p:nvSpPr>
        <p:spPr>
          <a:xfrm>
            <a:off x="8046720" y="1417320"/>
            <a:ext cx="3520440" cy="2103120"/>
          </a:xfrm>
          <a:prstGeom prst="roundRect">
            <a:avLst>
              <a:gd name="adj" fmla="val 4348"/>
            </a:avLst>
          </a:prstGeom>
          <a:solidFill>
            <a:srgbClr val="FDF0E8"/>
          </a:solidFill>
          <a:ln w="12700">
            <a:solidFill>
              <a:srgbClr val="FDF0E8"/>
            </a:solidFill>
            <a:prstDash val="solid"/>
          </a:ln>
        </p:spPr>
      </p:sp>
      <p:sp>
        <p:nvSpPr>
          <p:cNvPr id="14" name="Shape 10"/>
          <p:cNvSpPr/>
          <p:nvPr/>
        </p:nvSpPr>
        <p:spPr>
          <a:xfrm>
            <a:off x="8321040" y="1691640"/>
            <a:ext cx="548640" cy="548640"/>
          </a:xfrm>
          <a:prstGeom prst="ellipse">
            <a:avLst/>
          </a:prstGeom>
          <a:solidFill>
            <a:srgbClr val="E35205"/>
          </a:solidFill>
          <a:ln w="12700">
            <a:solidFill>
              <a:srgbClr val="E35205"/>
            </a:solidFill>
            <a:prstDash val="solid"/>
          </a:ln>
        </p:spPr>
      </p:sp>
      <p:pic>
        <p:nvPicPr>
          <p:cNvPr id="15" name="Image 2" descr="preencoded.png">    </p:cNvPr>
          <p:cNvPicPr>
            <a:picLocks noChangeAspect="1"/>
          </p:cNvPicPr>
          <p:nvPr/>
        </p:nvPicPr>
        <p:blipFill>
          <a:blip r:embed="rId3"/>
          <a:stretch>
            <a:fillRect/>
          </a:stretch>
        </p:blipFill>
        <p:spPr>
          <a:xfrm>
            <a:off x="8441741" y="1812341"/>
            <a:ext cx="307238" cy="307238"/>
          </a:xfrm>
          <a:prstGeom prst="rect">
            <a:avLst/>
          </a:prstGeom>
        </p:spPr>
      </p:pic>
      <p:sp>
        <p:nvSpPr>
          <p:cNvPr id="16" name="Text 11"/>
          <p:cNvSpPr txBox="1"/>
          <p:nvPr/>
        </p:nvSpPr>
        <p:spPr>
          <a:xfrm>
            <a:off x="8321040" y="2331720"/>
            <a:ext cx="3017520" cy="36576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Tamper-evident PDFs</a:t>
            </a:r>
            <a:endParaRPr lang="en-US" sz="1700" dirty="0"/>
          </a:p>
        </p:txBody>
      </p:sp>
      <p:sp>
        <p:nvSpPr>
          <p:cNvPr id="17" name="Text 12"/>
          <p:cNvSpPr txBox="1"/>
          <p:nvPr/>
        </p:nvSpPr>
        <p:spPr>
          <a:xfrm>
            <a:off x="8321040" y="2715768"/>
            <a:ext cx="3017520"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Each form carries two digital signatures that break if the file is edited.</a:t>
            </a:r>
            <a:endParaRPr lang="en-US" sz="1300" dirty="0"/>
          </a:p>
        </p:txBody>
      </p:sp>
      <p:sp>
        <p:nvSpPr>
          <p:cNvPr id="18" name="Shape 13"/>
          <p:cNvSpPr/>
          <p:nvPr/>
        </p:nvSpPr>
        <p:spPr>
          <a:xfrm>
            <a:off x="548640" y="3794760"/>
            <a:ext cx="3520440" cy="2103120"/>
          </a:xfrm>
          <a:prstGeom prst="roundRect">
            <a:avLst>
              <a:gd name="adj" fmla="val 4348"/>
            </a:avLst>
          </a:prstGeom>
          <a:solidFill>
            <a:srgbClr val="F3F4F6"/>
          </a:solidFill>
          <a:ln w="12700">
            <a:solidFill>
              <a:srgbClr val="F3F4F6"/>
            </a:solidFill>
            <a:prstDash val="solid"/>
          </a:ln>
        </p:spPr>
      </p:sp>
      <p:sp>
        <p:nvSpPr>
          <p:cNvPr id="19" name="Shape 14"/>
          <p:cNvSpPr/>
          <p:nvPr/>
        </p:nvSpPr>
        <p:spPr>
          <a:xfrm>
            <a:off x="822960" y="4069080"/>
            <a:ext cx="548640" cy="548640"/>
          </a:xfrm>
          <a:prstGeom prst="ellipse">
            <a:avLst/>
          </a:prstGeom>
          <a:solidFill>
            <a:srgbClr val="0B1F3A"/>
          </a:solidFill>
          <a:ln w="12700">
            <a:solidFill>
              <a:srgbClr val="0B1F3A"/>
            </a:solidFill>
            <a:prstDash val="solid"/>
          </a:ln>
        </p:spPr>
      </p:sp>
      <p:pic>
        <p:nvPicPr>
          <p:cNvPr id="20" name="Image 3" descr="preencoded.png">    </p:cNvPr>
          <p:cNvPicPr>
            <a:picLocks noChangeAspect="1"/>
          </p:cNvPicPr>
          <p:nvPr/>
        </p:nvPicPr>
        <p:blipFill>
          <a:blip r:embed="rId4"/>
          <a:stretch>
            <a:fillRect/>
          </a:stretch>
        </p:blipFill>
        <p:spPr>
          <a:xfrm>
            <a:off x="943661" y="4189781"/>
            <a:ext cx="307238" cy="307238"/>
          </a:xfrm>
          <a:prstGeom prst="rect">
            <a:avLst/>
          </a:prstGeom>
        </p:spPr>
      </p:pic>
      <p:sp>
        <p:nvSpPr>
          <p:cNvPr id="21" name="Text 15"/>
          <p:cNvSpPr txBox="1"/>
          <p:nvPr/>
        </p:nvSpPr>
        <p:spPr>
          <a:xfrm>
            <a:off x="822960" y="4709160"/>
            <a:ext cx="3017520" cy="36576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Full audit trail</a:t>
            </a:r>
            <a:endParaRPr lang="en-US" sz="1700" dirty="0"/>
          </a:p>
        </p:txBody>
      </p:sp>
      <p:sp>
        <p:nvSpPr>
          <p:cNvPr id="22" name="Text 16"/>
          <p:cNvSpPr txBox="1"/>
          <p:nvPr/>
        </p:nvSpPr>
        <p:spPr>
          <a:xfrm>
            <a:off x="822960" y="5093208"/>
            <a:ext cx="3017520"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Every generation is logged with operator, time and file location.</a:t>
            </a:r>
            <a:endParaRPr lang="en-US" sz="1300" dirty="0"/>
          </a:p>
        </p:txBody>
      </p:sp>
      <p:sp>
        <p:nvSpPr>
          <p:cNvPr id="23" name="Shape 17"/>
          <p:cNvSpPr/>
          <p:nvPr/>
        </p:nvSpPr>
        <p:spPr>
          <a:xfrm>
            <a:off x="4297680" y="3794760"/>
            <a:ext cx="3520440" cy="2103120"/>
          </a:xfrm>
          <a:prstGeom prst="roundRect">
            <a:avLst>
              <a:gd name="adj" fmla="val 4348"/>
            </a:avLst>
          </a:prstGeom>
          <a:solidFill>
            <a:srgbClr val="FDF0E8"/>
          </a:solidFill>
          <a:ln w="12700">
            <a:solidFill>
              <a:srgbClr val="FDF0E8"/>
            </a:solidFill>
            <a:prstDash val="solid"/>
          </a:ln>
        </p:spPr>
      </p:sp>
      <p:sp>
        <p:nvSpPr>
          <p:cNvPr id="24" name="Shape 18"/>
          <p:cNvSpPr/>
          <p:nvPr/>
        </p:nvSpPr>
        <p:spPr>
          <a:xfrm>
            <a:off x="4572000" y="4069080"/>
            <a:ext cx="548640" cy="548640"/>
          </a:xfrm>
          <a:prstGeom prst="ellipse">
            <a:avLst/>
          </a:prstGeom>
          <a:solidFill>
            <a:srgbClr val="E35205"/>
          </a:solidFill>
          <a:ln w="12700">
            <a:solidFill>
              <a:srgbClr val="E35205"/>
            </a:solidFill>
            <a:prstDash val="solid"/>
          </a:ln>
        </p:spPr>
      </p:sp>
      <p:pic>
        <p:nvPicPr>
          <p:cNvPr id="25" name="Image 4" descr="preencoded.png">    </p:cNvPr>
          <p:cNvPicPr>
            <a:picLocks noChangeAspect="1"/>
          </p:cNvPicPr>
          <p:nvPr/>
        </p:nvPicPr>
        <p:blipFill>
          <a:blip r:embed="rId5"/>
          <a:stretch>
            <a:fillRect/>
          </a:stretch>
        </p:blipFill>
        <p:spPr>
          <a:xfrm>
            <a:off x="4692701" y="4189781"/>
            <a:ext cx="307238" cy="307238"/>
          </a:xfrm>
          <a:prstGeom prst="rect">
            <a:avLst/>
          </a:prstGeom>
        </p:spPr>
      </p:pic>
      <p:sp>
        <p:nvSpPr>
          <p:cNvPr id="26" name="Text 19"/>
          <p:cNvSpPr txBox="1"/>
          <p:nvPr/>
        </p:nvSpPr>
        <p:spPr>
          <a:xfrm>
            <a:off x="4572000" y="4709160"/>
            <a:ext cx="3017520" cy="36576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Never blocks the work</a:t>
            </a:r>
            <a:endParaRPr lang="en-US" sz="1700" dirty="0"/>
          </a:p>
        </p:txBody>
      </p:sp>
      <p:sp>
        <p:nvSpPr>
          <p:cNvPr id="27" name="Text 20"/>
          <p:cNvSpPr txBox="1"/>
          <p:nvPr/>
        </p:nvSpPr>
        <p:spPr>
          <a:xfrm>
            <a:off x="4572000" y="5093208"/>
            <a:ext cx="3017520"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If a source is down, the app says so and the field is typed by hand.</a:t>
            </a:r>
            <a:endParaRPr lang="en-US" sz="1300" dirty="0"/>
          </a:p>
        </p:txBody>
      </p:sp>
      <p:sp>
        <p:nvSpPr>
          <p:cNvPr id="28" name="Shape 21"/>
          <p:cNvSpPr/>
          <p:nvPr/>
        </p:nvSpPr>
        <p:spPr>
          <a:xfrm>
            <a:off x="8046720" y="3794760"/>
            <a:ext cx="3520440" cy="2103120"/>
          </a:xfrm>
          <a:prstGeom prst="roundRect">
            <a:avLst>
              <a:gd name="adj" fmla="val 4348"/>
            </a:avLst>
          </a:prstGeom>
          <a:solidFill>
            <a:srgbClr val="F3F4F6"/>
          </a:solidFill>
          <a:ln w="12700">
            <a:solidFill>
              <a:srgbClr val="F3F4F6"/>
            </a:solidFill>
            <a:prstDash val="solid"/>
          </a:ln>
        </p:spPr>
      </p:sp>
      <p:sp>
        <p:nvSpPr>
          <p:cNvPr id="29" name="Shape 22"/>
          <p:cNvSpPr/>
          <p:nvPr/>
        </p:nvSpPr>
        <p:spPr>
          <a:xfrm>
            <a:off x="8321040" y="4069080"/>
            <a:ext cx="548640" cy="548640"/>
          </a:xfrm>
          <a:prstGeom prst="ellipse">
            <a:avLst/>
          </a:prstGeom>
          <a:solidFill>
            <a:srgbClr val="0B1F3A"/>
          </a:solidFill>
          <a:ln w="12700">
            <a:solidFill>
              <a:srgbClr val="0B1F3A"/>
            </a:solidFill>
            <a:prstDash val="solid"/>
          </a:ln>
        </p:spPr>
      </p:sp>
      <p:pic>
        <p:nvPicPr>
          <p:cNvPr id="30" name="Image 5" descr="preencoded.png">    </p:cNvPr>
          <p:cNvPicPr>
            <a:picLocks noChangeAspect="1"/>
          </p:cNvPicPr>
          <p:nvPr/>
        </p:nvPicPr>
        <p:blipFill>
          <a:blip r:embed="rId6"/>
          <a:stretch>
            <a:fillRect/>
          </a:stretch>
        </p:blipFill>
        <p:spPr>
          <a:xfrm>
            <a:off x="8441741" y="4189781"/>
            <a:ext cx="307238" cy="307238"/>
          </a:xfrm>
          <a:prstGeom prst="rect">
            <a:avLst/>
          </a:prstGeom>
        </p:spPr>
      </p:pic>
      <p:sp>
        <p:nvSpPr>
          <p:cNvPr id="31" name="Text 23"/>
          <p:cNvSpPr txBox="1"/>
          <p:nvPr/>
        </p:nvSpPr>
        <p:spPr>
          <a:xfrm>
            <a:off x="8321040" y="4709160"/>
            <a:ext cx="3017520" cy="365760"/>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Nothing sent automatically</a:t>
            </a:r>
            <a:endParaRPr lang="en-US" sz="1700" dirty="0"/>
          </a:p>
        </p:txBody>
      </p:sp>
      <p:sp>
        <p:nvSpPr>
          <p:cNvPr id="32" name="Text 24"/>
          <p:cNvSpPr txBox="1"/>
          <p:nvPr/>
        </p:nvSpPr>
        <p:spPr>
          <a:xfrm>
            <a:off x="8321040" y="5093208"/>
            <a:ext cx="3017520"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Emails open as drafts for us to review and send ourselves.</a:t>
            </a:r>
            <a:endParaRPr lang="en-US" sz="1300" dirty="0"/>
          </a:p>
        </p:txBody>
      </p:sp>
      <p:sp>
        <p:nvSpPr>
          <p:cNvPr id="33" name="Text 2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What changes for the team</a:t>
            </a:r>
            <a:endParaRPr lang="en-US" sz="3200" dirty="0"/>
          </a:p>
        </p:txBody>
      </p:sp>
      <p:sp>
        <p:nvSpPr>
          <p:cNvPr id="3" name="Shape 1"/>
          <p:cNvSpPr/>
          <p:nvPr/>
        </p:nvSpPr>
        <p:spPr>
          <a:xfrm>
            <a:off x="548640" y="1554480"/>
            <a:ext cx="2606040" cy="2880360"/>
          </a:xfrm>
          <a:prstGeom prst="roundRect">
            <a:avLst>
              <a:gd name="adj" fmla="val 4211"/>
            </a:avLst>
          </a:prstGeom>
          <a:solidFill>
            <a:srgbClr val="0B1F3A"/>
          </a:solidFill>
          <a:ln w="12700">
            <a:solidFill>
              <a:srgbClr val="0B1F3A"/>
            </a:solidFill>
            <a:prstDash val="solid"/>
          </a:ln>
        </p:spPr>
      </p:sp>
      <p:sp>
        <p:nvSpPr>
          <p:cNvPr id="4" name="Text 2"/>
          <p:cNvSpPr txBox="1"/>
          <p:nvPr/>
        </p:nvSpPr>
        <p:spPr>
          <a:xfrm>
            <a:off x="685800" y="1783080"/>
            <a:ext cx="2331720"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5 → 1</a:t>
            </a:r>
            <a:endParaRPr lang="en-US" sz="4800" dirty="0"/>
          </a:p>
        </p:txBody>
      </p:sp>
      <p:sp>
        <p:nvSpPr>
          <p:cNvPr id="5" name="Text 3"/>
          <p:cNvSpPr txBox="1"/>
          <p:nvPr/>
        </p:nvSpPr>
        <p:spPr>
          <a:xfrm>
            <a:off x="685800" y="2788920"/>
            <a:ext cx="23317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tools per form</a:t>
            </a:r>
            <a:endParaRPr lang="en-US" sz="1600" dirty="0"/>
          </a:p>
        </p:txBody>
      </p:sp>
      <p:sp>
        <p:nvSpPr>
          <p:cNvPr id="6" name="Text 4"/>
          <p:cNvSpPr txBox="1"/>
          <p:nvPr/>
        </p:nvSpPr>
        <p:spPr>
          <a:xfrm>
            <a:off x="777240" y="3246120"/>
            <a:ext cx="2148840" cy="1188720"/>
          </a:xfrm>
          <a:prstGeom prst="rect">
            <a:avLst/>
          </a:prstGeom>
          <a:noFill/>
          <a:ln/>
        </p:spPr>
        <p:txBody>
          <a:bodyPr wrap="square" lIns="0" tIns="0" rIns="0" bIns="0" rtlCol="0" anchor="t"/>
          <a:lstStyle/>
          <a:p>
            <a:pPr algn="ctr" indent="0" marL="0">
              <a:buNone/>
            </a:pPr>
            <a:r>
              <a:rPr lang="en-US" sz="1300" dirty="0">
                <a:solidFill>
                  <a:srgbClr val="CBD5E1"/>
                </a:solidFill>
                <a:latin typeface="Calibri" pitchFamily="34" charset="0"/>
                <a:ea typeface="Calibri" pitchFamily="34" charset="-122"/>
                <a:cs typeface="Calibri" pitchFamily="34" charset="-120"/>
              </a:rPr>
              <a:t>AD, SSRS, TracIT, Word and Acrobat become one screen</a:t>
            </a:r>
            <a:endParaRPr lang="en-US" sz="1300" dirty="0"/>
          </a:p>
        </p:txBody>
      </p:sp>
      <p:sp>
        <p:nvSpPr>
          <p:cNvPr id="7" name="Shape 5"/>
          <p:cNvSpPr/>
          <p:nvPr/>
        </p:nvSpPr>
        <p:spPr>
          <a:xfrm>
            <a:off x="3383280" y="1554480"/>
            <a:ext cx="2606040" cy="2880360"/>
          </a:xfrm>
          <a:prstGeom prst="roundRect">
            <a:avLst>
              <a:gd name="adj" fmla="val 4211"/>
            </a:avLst>
          </a:prstGeom>
          <a:solidFill>
            <a:srgbClr val="F3F4F6"/>
          </a:solidFill>
          <a:ln w="12700">
            <a:solidFill>
              <a:srgbClr val="F3F4F6"/>
            </a:solidFill>
            <a:prstDash val="solid"/>
          </a:ln>
        </p:spPr>
      </p:sp>
      <p:sp>
        <p:nvSpPr>
          <p:cNvPr id="8" name="Text 6"/>
          <p:cNvSpPr txBox="1"/>
          <p:nvPr/>
        </p:nvSpPr>
        <p:spPr>
          <a:xfrm>
            <a:off x="3520440" y="1783080"/>
            <a:ext cx="2331720" cy="1005840"/>
          </a:xfrm>
          <a:prstGeom prst="rect">
            <a:avLst/>
          </a:prstGeom>
          <a:noFill/>
          <a:ln/>
        </p:spPr>
        <p:txBody>
          <a:bodyPr wrap="square" lIns="0" tIns="0" rIns="0" bIns="0" rtlCol="0" anchor="ctr"/>
          <a:lstStyle/>
          <a:p>
            <a:pPr algn="ctr" indent="0" marL="0">
              <a:buNone/>
            </a:pPr>
            <a:r>
              <a:rPr lang="en-US" sz="4800" b="1" dirty="0">
                <a:solidFill>
                  <a:srgbClr val="E35205"/>
                </a:solidFill>
                <a:latin typeface="Calibri" pitchFamily="34" charset="0"/>
                <a:ea typeface="Calibri" pitchFamily="34" charset="-122"/>
                <a:cs typeface="Calibri" pitchFamily="34" charset="-120"/>
              </a:rPr>
              <a:t>0</a:t>
            </a:r>
            <a:endParaRPr lang="en-US" sz="4800" dirty="0"/>
          </a:p>
        </p:txBody>
      </p:sp>
      <p:sp>
        <p:nvSpPr>
          <p:cNvPr id="9" name="Text 7"/>
          <p:cNvSpPr txBox="1"/>
          <p:nvPr/>
        </p:nvSpPr>
        <p:spPr>
          <a:xfrm>
            <a:off x="3520440" y="2788920"/>
            <a:ext cx="2331720" cy="41148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retyped IDs &amp; serials</a:t>
            </a:r>
            <a:endParaRPr lang="en-US" sz="1600" dirty="0"/>
          </a:p>
        </p:txBody>
      </p:sp>
      <p:sp>
        <p:nvSpPr>
          <p:cNvPr id="10" name="Text 8"/>
          <p:cNvSpPr txBox="1"/>
          <p:nvPr/>
        </p:nvSpPr>
        <p:spPr>
          <a:xfrm>
            <a:off x="3611880" y="3246120"/>
            <a:ext cx="2148840" cy="118872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when the person is in AD, SSRS and TracIT</a:t>
            </a:r>
            <a:endParaRPr lang="en-US" sz="1300" dirty="0"/>
          </a:p>
        </p:txBody>
      </p:sp>
      <p:sp>
        <p:nvSpPr>
          <p:cNvPr id="11" name="Shape 9"/>
          <p:cNvSpPr/>
          <p:nvPr/>
        </p:nvSpPr>
        <p:spPr>
          <a:xfrm>
            <a:off x="6217920" y="1554480"/>
            <a:ext cx="2606040" cy="2880360"/>
          </a:xfrm>
          <a:prstGeom prst="roundRect">
            <a:avLst>
              <a:gd name="adj" fmla="val 4211"/>
            </a:avLst>
          </a:prstGeom>
          <a:solidFill>
            <a:srgbClr val="F3F4F6"/>
          </a:solidFill>
          <a:ln w="12700">
            <a:solidFill>
              <a:srgbClr val="F3F4F6"/>
            </a:solidFill>
            <a:prstDash val="solid"/>
          </a:ln>
        </p:spPr>
      </p:sp>
      <p:sp>
        <p:nvSpPr>
          <p:cNvPr id="12" name="Text 10"/>
          <p:cNvSpPr txBox="1"/>
          <p:nvPr/>
        </p:nvSpPr>
        <p:spPr>
          <a:xfrm>
            <a:off x="6355080" y="1783080"/>
            <a:ext cx="2331720" cy="1005840"/>
          </a:xfrm>
          <a:prstGeom prst="rect">
            <a:avLst/>
          </a:prstGeom>
          <a:noFill/>
          <a:ln/>
        </p:spPr>
        <p:txBody>
          <a:bodyPr wrap="square" lIns="0" tIns="0" rIns="0" bIns="0" rtlCol="0" anchor="ctr"/>
          <a:lstStyle/>
          <a:p>
            <a:pPr algn="ctr" indent="0" marL="0">
              <a:buNone/>
            </a:pPr>
            <a:r>
              <a:rPr lang="en-US" sz="4800" b="1" dirty="0">
                <a:solidFill>
                  <a:srgbClr val="E35205"/>
                </a:solidFill>
                <a:latin typeface="Calibri" pitchFamily="34" charset="0"/>
                <a:ea typeface="Calibri" pitchFamily="34" charset="-122"/>
                <a:cs typeface="Calibri" pitchFamily="34" charset="-120"/>
              </a:rPr>
              <a:t>1 paste</a:t>
            </a:r>
            <a:endParaRPr lang="en-US" sz="4800" dirty="0"/>
          </a:p>
        </p:txBody>
      </p:sp>
      <p:sp>
        <p:nvSpPr>
          <p:cNvPr id="13" name="Text 11"/>
          <p:cNvSpPr txBox="1"/>
          <p:nvPr/>
        </p:nvSpPr>
        <p:spPr>
          <a:xfrm>
            <a:off x="6355080" y="2788920"/>
            <a:ext cx="2331720" cy="41148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to load a whole batch</a:t>
            </a:r>
            <a:endParaRPr lang="en-US" sz="1600" dirty="0"/>
          </a:p>
        </p:txBody>
      </p:sp>
      <p:sp>
        <p:nvSpPr>
          <p:cNvPr id="14" name="Text 12"/>
          <p:cNvSpPr txBox="1"/>
          <p:nvPr/>
        </p:nvSpPr>
        <p:spPr>
          <a:xfrm>
            <a:off x="6446520" y="3246120"/>
            <a:ext cx="2148840" cy="118872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names, types and serials fill themselves in</a:t>
            </a:r>
            <a:endParaRPr lang="en-US" sz="1300" dirty="0"/>
          </a:p>
        </p:txBody>
      </p:sp>
      <p:sp>
        <p:nvSpPr>
          <p:cNvPr id="15" name="Shape 13"/>
          <p:cNvSpPr/>
          <p:nvPr/>
        </p:nvSpPr>
        <p:spPr>
          <a:xfrm>
            <a:off x="9052560" y="1554480"/>
            <a:ext cx="2606040" cy="2880360"/>
          </a:xfrm>
          <a:prstGeom prst="roundRect">
            <a:avLst>
              <a:gd name="adj" fmla="val 4211"/>
            </a:avLst>
          </a:prstGeom>
          <a:solidFill>
            <a:srgbClr val="F3F4F6"/>
          </a:solidFill>
          <a:ln w="12700">
            <a:solidFill>
              <a:srgbClr val="F3F4F6"/>
            </a:solidFill>
            <a:prstDash val="solid"/>
          </a:ln>
        </p:spPr>
      </p:sp>
      <p:sp>
        <p:nvSpPr>
          <p:cNvPr id="16" name="Text 14"/>
          <p:cNvSpPr txBox="1"/>
          <p:nvPr/>
        </p:nvSpPr>
        <p:spPr>
          <a:xfrm>
            <a:off x="9189720" y="1783080"/>
            <a:ext cx="2331720" cy="1005840"/>
          </a:xfrm>
          <a:prstGeom prst="rect">
            <a:avLst/>
          </a:prstGeom>
          <a:noFill/>
          <a:ln/>
        </p:spPr>
        <p:txBody>
          <a:bodyPr wrap="square" lIns="0" tIns="0" rIns="0" bIns="0" rtlCol="0" anchor="ctr"/>
          <a:lstStyle/>
          <a:p>
            <a:pPr algn="ctr" indent="0" marL="0">
              <a:buNone/>
            </a:pPr>
            <a:r>
              <a:rPr lang="en-US" sz="4800" b="1" dirty="0">
                <a:solidFill>
                  <a:srgbClr val="E35205"/>
                </a:solidFill>
                <a:latin typeface="Calibri" pitchFamily="34" charset="0"/>
                <a:ea typeface="Calibri" pitchFamily="34" charset="-122"/>
                <a:cs typeface="Calibri" pitchFamily="34" charset="-120"/>
              </a:rPr>
              <a:t>100%</a:t>
            </a:r>
            <a:endParaRPr lang="en-US" sz="4800" dirty="0"/>
          </a:p>
        </p:txBody>
      </p:sp>
      <p:sp>
        <p:nvSpPr>
          <p:cNvPr id="17" name="Text 15"/>
          <p:cNvSpPr txBox="1"/>
          <p:nvPr/>
        </p:nvSpPr>
        <p:spPr>
          <a:xfrm>
            <a:off x="9189720" y="2788920"/>
            <a:ext cx="2331720" cy="41148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of forms logged</a:t>
            </a:r>
            <a:endParaRPr lang="en-US" sz="1600" dirty="0"/>
          </a:p>
        </p:txBody>
      </p:sp>
      <p:sp>
        <p:nvSpPr>
          <p:cNvPr id="18" name="Text 16"/>
          <p:cNvSpPr txBox="1"/>
          <p:nvPr/>
        </p:nvSpPr>
        <p:spPr>
          <a:xfrm>
            <a:off x="9281160" y="3246120"/>
            <a:ext cx="2148840" cy="118872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same folders, same file names, one history</a:t>
            </a:r>
            <a:endParaRPr lang="en-US" sz="1300" dirty="0"/>
          </a:p>
        </p:txBody>
      </p:sp>
      <p:sp>
        <p:nvSpPr>
          <p:cNvPr id="19" name="Shape 17"/>
          <p:cNvSpPr/>
          <p:nvPr/>
        </p:nvSpPr>
        <p:spPr>
          <a:xfrm>
            <a:off x="548640" y="5029200"/>
            <a:ext cx="11109960" cy="1051560"/>
          </a:xfrm>
          <a:prstGeom prst="roundRect">
            <a:avLst>
              <a:gd name="adj" fmla="val 8696"/>
            </a:avLst>
          </a:prstGeom>
          <a:solidFill>
            <a:srgbClr val="FDF0E8"/>
          </a:solidFill>
          <a:ln w="12700">
            <a:solidFill>
              <a:srgbClr val="FDF0E8"/>
            </a:solidFill>
            <a:prstDash val="solid"/>
          </a:ln>
        </p:spPr>
      </p:sp>
      <p:sp>
        <p:nvSpPr>
          <p:cNvPr id="20" name="Text 18"/>
          <p:cNvSpPr txBox="1"/>
          <p:nvPr/>
        </p:nvSpPr>
        <p:spPr>
          <a:xfrm>
            <a:off x="868680" y="5120640"/>
            <a:ext cx="10515600" cy="868680"/>
          </a:xfrm>
          <a:prstGeom prst="rect">
            <a:avLst/>
          </a:prstGeom>
          <a:noFill/>
          <a:ln/>
        </p:spPr>
        <p:txBody>
          <a:bodyPr wrap="square" lIns="0" tIns="0" rIns="0" bIns="0" rtlCol="0" anchor="ctr"/>
          <a:lstStyle/>
          <a:p>
            <a:pPr indent="0" marL="0">
              <a:buNone/>
            </a:pPr>
            <a:r>
              <a:rPr lang="en-US" sz="1600" b="1" dirty="0">
                <a:solidFill>
                  <a:srgbClr val="E35205"/>
                </a:solidFill>
                <a:latin typeface="Calibri" pitchFamily="34" charset="0"/>
                <a:ea typeface="Calibri" pitchFamily="34" charset="-122"/>
                <a:cs typeface="Calibri" pitchFamily="34" charset="-120"/>
              </a:rPr>
              <a:t>Next step: measure it. </a:t>
            </a:r>
            <a:pPr indent="0" marL="0">
              <a:buNone/>
            </a:pPr>
            <a:r>
              <a:rPr lang="en-US" sz="1600" dirty="0">
                <a:solidFill>
                  <a:srgbClr val="1F2937"/>
                </a:solidFill>
                <a:latin typeface="Calibri" pitchFamily="34" charset="0"/>
                <a:ea typeface="Calibri" pitchFamily="34" charset="-122"/>
                <a:cs typeface="Calibri" pitchFamily="34" charset="-120"/>
              </a:rPr>
              <a:t>During the pilot we'll time forms before and after, and count corrections, so we can report real time saved.</a:t>
            </a:r>
            <a:endParaRPr lang="en-US" sz="1600" dirty="0"/>
          </a:p>
        </p:txBody>
      </p:sp>
      <p:sp>
        <p:nvSpPr>
          <p:cNvPr id="21"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Where we are</a:t>
            </a:r>
            <a:endParaRPr lang="en-US" sz="3200" dirty="0"/>
          </a:p>
        </p:txBody>
      </p:sp>
      <p:sp>
        <p:nvSpPr>
          <p:cNvPr id="3" name="Shape 1"/>
          <p:cNvSpPr/>
          <p:nvPr/>
        </p:nvSpPr>
        <p:spPr>
          <a:xfrm>
            <a:off x="548640" y="1371600"/>
            <a:ext cx="3520440" cy="4800600"/>
          </a:xfrm>
          <a:prstGeom prst="roundRect">
            <a:avLst>
              <a:gd name="adj" fmla="val 2597"/>
            </a:avLst>
          </a:prstGeom>
          <a:solidFill>
            <a:srgbClr val="F9FAFB"/>
          </a:solidFill>
          <a:ln w="12700">
            <a:solidFill>
              <a:srgbClr val="E5E7EB"/>
            </a:solidFill>
            <a:prstDash val="solid"/>
          </a:ln>
        </p:spPr>
      </p:sp>
      <p:sp>
        <p:nvSpPr>
          <p:cNvPr id="4" name="Shape 2"/>
          <p:cNvSpPr/>
          <p:nvPr/>
        </p:nvSpPr>
        <p:spPr>
          <a:xfrm>
            <a:off x="822960" y="1600200"/>
            <a:ext cx="502920" cy="502920"/>
          </a:xfrm>
          <a:prstGeom prst="ellipse">
            <a:avLst/>
          </a:prstGeom>
          <a:solidFill>
            <a:srgbClr val="1A7F37"/>
          </a:solidFill>
          <a:ln w="12700">
            <a:solidFill>
              <a:srgbClr val="1A7F37"/>
            </a:solidFill>
            <a:prstDash val="solid"/>
          </a:ln>
        </p:spPr>
      </p:sp>
      <p:pic>
        <p:nvPicPr>
          <p:cNvPr id="5" name="Image 0" descr="preencoded.png">    </p:cNvPr>
          <p:cNvPicPr>
            <a:picLocks noChangeAspect="1"/>
          </p:cNvPicPr>
          <p:nvPr/>
        </p:nvPicPr>
        <p:blipFill>
          <a:blip r:embed="rId1"/>
          <a:stretch>
            <a:fillRect/>
          </a:stretch>
        </p:blipFill>
        <p:spPr>
          <a:xfrm>
            <a:off x="933602" y="1710842"/>
            <a:ext cx="281635" cy="281635"/>
          </a:xfrm>
          <a:prstGeom prst="rect">
            <a:avLst/>
          </a:prstGeom>
        </p:spPr>
      </p:pic>
      <p:sp>
        <p:nvSpPr>
          <p:cNvPr id="6" name="Text 3"/>
          <p:cNvSpPr txBox="1"/>
          <p:nvPr/>
        </p:nvSpPr>
        <p:spPr>
          <a:xfrm>
            <a:off x="1463040" y="1645920"/>
            <a:ext cx="2377440" cy="411480"/>
          </a:xfrm>
          <a:prstGeom prst="rect">
            <a:avLst/>
          </a:prstGeom>
          <a:noFill/>
          <a:ln/>
        </p:spPr>
        <p:txBody>
          <a:bodyPr wrap="square" lIns="0" tIns="0" rIns="0" bIns="0" rtlCol="0" anchor="ctr"/>
          <a:lstStyle/>
          <a:p>
            <a:pPr indent="0" marL="0">
              <a:buNone/>
            </a:pPr>
            <a:r>
              <a:rPr lang="en-US" sz="2000" b="1" dirty="0">
                <a:solidFill>
                  <a:srgbClr val="1A7F37"/>
                </a:solidFill>
                <a:latin typeface="Calibri" pitchFamily="34" charset="0"/>
                <a:ea typeface="Calibri" pitchFamily="34" charset="-122"/>
                <a:cs typeface="Calibri" pitchFamily="34" charset="-120"/>
              </a:rPr>
              <a:t>Done</a:t>
            </a:r>
            <a:endParaRPr lang="en-US" sz="2000" dirty="0"/>
          </a:p>
        </p:txBody>
      </p:sp>
      <p:sp>
        <p:nvSpPr>
          <p:cNvPr id="7" name="Text 4"/>
          <p:cNvSpPr txBox="1"/>
          <p:nvPr/>
        </p:nvSpPr>
        <p:spPr>
          <a:xfrm>
            <a:off x="822960" y="2331720"/>
            <a:ext cx="301752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Single person &amp; bulk processing</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Active Directory auto lookup</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SSRS: type + new laptop</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TracIT report: current laptop</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Topaz pad &amp; on-screen signing</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Signed PDF, filing, audit log</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Outlook drafts for exits</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New, cleaner screens</a:t>
            </a:r>
            <a:endParaRPr lang="en-US" sz="1400" dirty="0"/>
          </a:p>
        </p:txBody>
      </p:sp>
      <p:sp>
        <p:nvSpPr>
          <p:cNvPr id="8" name="Shape 5"/>
          <p:cNvSpPr/>
          <p:nvPr/>
        </p:nvSpPr>
        <p:spPr>
          <a:xfrm>
            <a:off x="4297680" y="1371600"/>
            <a:ext cx="3520440" cy="4800600"/>
          </a:xfrm>
          <a:prstGeom prst="roundRect">
            <a:avLst>
              <a:gd name="adj" fmla="val 2597"/>
            </a:avLst>
          </a:prstGeom>
          <a:solidFill>
            <a:srgbClr val="F9FAFB"/>
          </a:solidFill>
          <a:ln w="12700">
            <a:solidFill>
              <a:srgbClr val="E5E7EB"/>
            </a:solidFill>
            <a:prstDash val="solid"/>
          </a:ln>
        </p:spPr>
      </p:sp>
      <p:sp>
        <p:nvSpPr>
          <p:cNvPr id="9" name="Shape 6"/>
          <p:cNvSpPr/>
          <p:nvPr/>
        </p:nvSpPr>
        <p:spPr>
          <a:xfrm>
            <a:off x="4572000" y="1600200"/>
            <a:ext cx="502920" cy="502920"/>
          </a:xfrm>
          <a:prstGeom prst="ellipse">
            <a:avLst/>
          </a:prstGeom>
          <a:solidFill>
            <a:srgbClr val="E35205"/>
          </a:solidFill>
          <a:ln w="12700">
            <a:solidFill>
              <a:srgbClr val="E35205"/>
            </a:solidFill>
            <a:prstDash val="solid"/>
          </a:ln>
        </p:spPr>
      </p:sp>
      <p:pic>
        <p:nvPicPr>
          <p:cNvPr id="10" name="Image 1" descr="preencoded.png">    </p:cNvPr>
          <p:cNvPicPr>
            <a:picLocks noChangeAspect="1"/>
          </p:cNvPicPr>
          <p:nvPr/>
        </p:nvPicPr>
        <p:blipFill>
          <a:blip r:embed="rId2"/>
          <a:stretch>
            <a:fillRect/>
          </a:stretch>
        </p:blipFill>
        <p:spPr>
          <a:xfrm>
            <a:off x="4682642" y="1710842"/>
            <a:ext cx="281635" cy="281635"/>
          </a:xfrm>
          <a:prstGeom prst="rect">
            <a:avLst/>
          </a:prstGeom>
        </p:spPr>
      </p:pic>
      <p:sp>
        <p:nvSpPr>
          <p:cNvPr id="11" name="Text 7"/>
          <p:cNvSpPr txBox="1"/>
          <p:nvPr/>
        </p:nvSpPr>
        <p:spPr>
          <a:xfrm>
            <a:off x="5212080" y="1645920"/>
            <a:ext cx="2377440" cy="411480"/>
          </a:xfrm>
          <a:prstGeom prst="rect">
            <a:avLst/>
          </a:prstGeom>
          <a:noFill/>
          <a:ln/>
        </p:spPr>
        <p:txBody>
          <a:bodyPr wrap="square" lIns="0" tIns="0" rIns="0" bIns="0" rtlCol="0" anchor="ctr"/>
          <a:lstStyle/>
          <a:p>
            <a:pPr indent="0" marL="0">
              <a:buNone/>
            </a:pPr>
            <a:r>
              <a:rPr lang="en-US" sz="2000" b="1" dirty="0">
                <a:solidFill>
                  <a:srgbClr val="E35205"/>
                </a:solidFill>
                <a:latin typeface="Calibri" pitchFamily="34" charset="0"/>
                <a:ea typeface="Calibri" pitchFamily="34" charset="-122"/>
                <a:cs typeface="Calibri" pitchFamily="34" charset="-120"/>
              </a:rPr>
              <a:t>In progress</a:t>
            </a:r>
            <a:endParaRPr lang="en-US" sz="2000" dirty="0"/>
          </a:p>
        </p:txBody>
      </p:sp>
      <p:sp>
        <p:nvSpPr>
          <p:cNvPr id="12" name="Text 8"/>
          <p:cNvSpPr txBox="1"/>
          <p:nvPr/>
        </p:nvSpPr>
        <p:spPr>
          <a:xfrm>
            <a:off x="4572000" y="2331720"/>
            <a:ext cx="301752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TracIT report downloads itself daily (today: one click on 'Load…' with the exported report)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Final checks on touchpad scrolling</a:t>
            </a:r>
            <a:endParaRPr lang="en-US" sz="1400" dirty="0"/>
          </a:p>
        </p:txBody>
      </p:sp>
      <p:sp>
        <p:nvSpPr>
          <p:cNvPr id="13" name="Shape 9"/>
          <p:cNvSpPr/>
          <p:nvPr/>
        </p:nvSpPr>
        <p:spPr>
          <a:xfrm>
            <a:off x="8046720" y="1371600"/>
            <a:ext cx="3520440" cy="4800600"/>
          </a:xfrm>
          <a:prstGeom prst="roundRect">
            <a:avLst>
              <a:gd name="adj" fmla="val 2597"/>
            </a:avLst>
          </a:prstGeom>
          <a:solidFill>
            <a:srgbClr val="F9FAFB"/>
          </a:solidFill>
          <a:ln w="12700">
            <a:solidFill>
              <a:srgbClr val="E5E7EB"/>
            </a:solidFill>
            <a:prstDash val="solid"/>
          </a:ln>
        </p:spPr>
      </p:sp>
      <p:sp>
        <p:nvSpPr>
          <p:cNvPr id="14" name="Shape 10"/>
          <p:cNvSpPr/>
          <p:nvPr/>
        </p:nvSpPr>
        <p:spPr>
          <a:xfrm>
            <a:off x="8321040" y="1600200"/>
            <a:ext cx="502920" cy="502920"/>
          </a:xfrm>
          <a:prstGeom prst="ellipse">
            <a:avLst/>
          </a:prstGeom>
          <a:solidFill>
            <a:srgbClr val="0B1F3A"/>
          </a:solidFill>
          <a:ln w="12700">
            <a:solidFill>
              <a:srgbClr val="0B1F3A"/>
            </a:solidFill>
            <a:prstDash val="solid"/>
          </a:ln>
        </p:spPr>
      </p:sp>
      <p:pic>
        <p:nvPicPr>
          <p:cNvPr id="15" name="Image 2" descr="preencoded.png">    </p:cNvPr>
          <p:cNvPicPr>
            <a:picLocks noChangeAspect="1"/>
          </p:cNvPicPr>
          <p:nvPr/>
        </p:nvPicPr>
        <p:blipFill>
          <a:blip r:embed="rId3"/>
          <a:stretch>
            <a:fillRect/>
          </a:stretch>
        </p:blipFill>
        <p:spPr>
          <a:xfrm>
            <a:off x="8431682" y="1710842"/>
            <a:ext cx="281635" cy="281635"/>
          </a:xfrm>
          <a:prstGeom prst="rect">
            <a:avLst/>
          </a:prstGeom>
        </p:spPr>
      </p:pic>
      <p:sp>
        <p:nvSpPr>
          <p:cNvPr id="16" name="Text 11"/>
          <p:cNvSpPr txBox="1"/>
          <p:nvPr/>
        </p:nvSpPr>
        <p:spPr>
          <a:xfrm>
            <a:off x="8961120" y="1645920"/>
            <a:ext cx="2377440" cy="41148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Next</a:t>
            </a:r>
            <a:endParaRPr lang="en-US" sz="2000" dirty="0"/>
          </a:p>
        </p:txBody>
      </p:sp>
      <p:sp>
        <p:nvSpPr>
          <p:cNvPr id="17" name="Text 12"/>
          <p:cNvSpPr txBox="1"/>
          <p:nvPr/>
        </p:nvSpPr>
        <p:spPr>
          <a:xfrm>
            <a:off x="8321040" y="2331720"/>
            <a:ext cx="301752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2-week pilot with the team</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ServiceNow live new-hire data</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Trusted signing certificate (IT)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One-click install for everyone</a:t>
            </a:r>
            <a:endParaRPr lang="en-US" sz="1400" dirty="0"/>
          </a:p>
        </p:txBody>
      </p:sp>
      <p:sp>
        <p:nvSpPr>
          <p:cNvPr id="18"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What I need to roll it out</a:t>
            </a:r>
            <a:endParaRPr lang="en-US" sz="3200" dirty="0"/>
          </a:p>
        </p:txBody>
      </p:sp>
      <p:sp>
        <p:nvSpPr>
          <p:cNvPr id="3" name="Shape 1"/>
          <p:cNvSpPr/>
          <p:nvPr/>
        </p:nvSpPr>
        <p:spPr>
          <a:xfrm>
            <a:off x="548640" y="1417320"/>
            <a:ext cx="11109960" cy="987552"/>
          </a:xfrm>
          <a:prstGeom prst="roundRect">
            <a:avLst>
              <a:gd name="adj" fmla="val 9259"/>
            </a:avLst>
          </a:prstGeom>
          <a:solidFill>
            <a:srgbClr val="FDF0E8"/>
          </a:solidFill>
          <a:ln w="12700">
            <a:solidFill>
              <a:srgbClr val="FDF0E8"/>
            </a:solidFill>
            <a:prstDash val="solid"/>
          </a:ln>
        </p:spPr>
      </p:sp>
      <p:sp>
        <p:nvSpPr>
          <p:cNvPr id="4" name="Shape 2"/>
          <p:cNvSpPr/>
          <p:nvPr/>
        </p:nvSpPr>
        <p:spPr>
          <a:xfrm>
            <a:off x="822960" y="1709928"/>
            <a:ext cx="384048" cy="384048"/>
          </a:xfrm>
          <a:prstGeom prst="ellipse">
            <a:avLst/>
          </a:prstGeom>
          <a:solidFill>
            <a:srgbClr val="E35205"/>
          </a:solidFill>
          <a:ln w="12700">
            <a:solidFill>
              <a:srgbClr val="E35205"/>
            </a:solidFill>
            <a:prstDash val="solid"/>
          </a:ln>
        </p:spPr>
      </p:sp>
      <p:sp>
        <p:nvSpPr>
          <p:cNvPr id="5" name="Text 3"/>
          <p:cNvSpPr txBox="1"/>
          <p:nvPr/>
        </p:nvSpPr>
        <p:spPr>
          <a:xfrm>
            <a:off x="822960" y="1709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1417320" y="1636776"/>
            <a:ext cx="548640" cy="548640"/>
          </a:xfrm>
          <a:prstGeom prst="ellipse">
            <a:avLst/>
          </a:prstGeom>
          <a:solidFill>
            <a:srgbClr val="0B1F3A"/>
          </a:solidFill>
          <a:ln w="12700">
            <a:solidFill>
              <a:srgbClr val="0B1F3A"/>
            </a:solidFill>
            <a:prstDash val="solid"/>
          </a:ln>
        </p:spPr>
      </p:sp>
      <p:pic>
        <p:nvPicPr>
          <p:cNvPr id="7" name="Image 0" descr="preencoded.png">    </p:cNvPr>
          <p:cNvPicPr>
            <a:picLocks noChangeAspect="1"/>
          </p:cNvPicPr>
          <p:nvPr/>
        </p:nvPicPr>
        <p:blipFill>
          <a:blip r:embed="rId1"/>
          <a:stretch>
            <a:fillRect/>
          </a:stretch>
        </p:blipFill>
        <p:spPr>
          <a:xfrm>
            <a:off x="1538021" y="1757477"/>
            <a:ext cx="307238" cy="307238"/>
          </a:xfrm>
          <a:prstGeom prst="rect">
            <a:avLst/>
          </a:prstGeom>
        </p:spPr>
      </p:pic>
      <p:sp>
        <p:nvSpPr>
          <p:cNvPr id="8" name="Text 5"/>
          <p:cNvSpPr txBox="1"/>
          <p:nvPr/>
        </p:nvSpPr>
        <p:spPr>
          <a:xfrm>
            <a:off x="2194560" y="1545336"/>
            <a:ext cx="9235440" cy="384048"/>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2–3 pilot volunteers for two weeks</a:t>
            </a:r>
            <a:endParaRPr lang="en-US" sz="1800" dirty="0"/>
          </a:p>
        </p:txBody>
      </p:sp>
      <p:sp>
        <p:nvSpPr>
          <p:cNvPr id="9" name="Text 6"/>
          <p:cNvSpPr txBox="1"/>
          <p:nvPr/>
        </p:nvSpPr>
        <p:spPr>
          <a:xfrm>
            <a:off x="2194560" y="1929384"/>
            <a:ext cx="9235440" cy="347472"/>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Use it on real issues and returns, share what's missing</a:t>
            </a:r>
            <a:endParaRPr lang="en-US" sz="1400" dirty="0"/>
          </a:p>
        </p:txBody>
      </p:sp>
      <p:sp>
        <p:nvSpPr>
          <p:cNvPr id="10" name="Shape 7"/>
          <p:cNvSpPr/>
          <p:nvPr/>
        </p:nvSpPr>
        <p:spPr>
          <a:xfrm>
            <a:off x="548640" y="2606040"/>
            <a:ext cx="11109960" cy="987552"/>
          </a:xfrm>
          <a:prstGeom prst="roundRect">
            <a:avLst>
              <a:gd name="adj" fmla="val 9259"/>
            </a:avLst>
          </a:prstGeom>
          <a:solidFill>
            <a:srgbClr val="F3F4F6"/>
          </a:solidFill>
          <a:ln w="12700">
            <a:solidFill>
              <a:srgbClr val="F3F4F6"/>
            </a:solidFill>
            <a:prstDash val="solid"/>
          </a:ln>
        </p:spPr>
      </p:sp>
      <p:sp>
        <p:nvSpPr>
          <p:cNvPr id="11" name="Shape 8"/>
          <p:cNvSpPr/>
          <p:nvPr/>
        </p:nvSpPr>
        <p:spPr>
          <a:xfrm>
            <a:off x="822960" y="2898648"/>
            <a:ext cx="384048" cy="384048"/>
          </a:xfrm>
          <a:prstGeom prst="ellipse">
            <a:avLst/>
          </a:prstGeom>
          <a:solidFill>
            <a:srgbClr val="E35205"/>
          </a:solidFill>
          <a:ln w="12700">
            <a:solidFill>
              <a:srgbClr val="E35205"/>
            </a:solidFill>
            <a:prstDash val="solid"/>
          </a:ln>
        </p:spPr>
      </p:sp>
      <p:sp>
        <p:nvSpPr>
          <p:cNvPr id="12" name="Text 9"/>
          <p:cNvSpPr txBox="1"/>
          <p:nvPr/>
        </p:nvSpPr>
        <p:spPr>
          <a:xfrm>
            <a:off x="82296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Shape 10"/>
          <p:cNvSpPr/>
          <p:nvPr/>
        </p:nvSpPr>
        <p:spPr>
          <a:xfrm>
            <a:off x="1417320" y="2825496"/>
            <a:ext cx="548640" cy="548640"/>
          </a:xfrm>
          <a:prstGeom prst="ellipse">
            <a:avLst/>
          </a:prstGeom>
          <a:solidFill>
            <a:srgbClr val="0B1F3A"/>
          </a:solidFill>
          <a:ln w="12700">
            <a:solidFill>
              <a:srgbClr val="0B1F3A"/>
            </a:solidFill>
            <a:prstDash val="solid"/>
          </a:ln>
        </p:spPr>
      </p:sp>
      <p:pic>
        <p:nvPicPr>
          <p:cNvPr id="14" name="Image 1" descr="preencoded.png">    </p:cNvPr>
          <p:cNvPicPr>
            <a:picLocks noChangeAspect="1"/>
          </p:cNvPicPr>
          <p:nvPr/>
        </p:nvPicPr>
        <p:blipFill>
          <a:blip r:embed="rId2"/>
          <a:stretch>
            <a:fillRect/>
          </a:stretch>
        </p:blipFill>
        <p:spPr>
          <a:xfrm>
            <a:off x="1538021" y="2946197"/>
            <a:ext cx="307238" cy="307238"/>
          </a:xfrm>
          <a:prstGeom prst="rect">
            <a:avLst/>
          </a:prstGeom>
        </p:spPr>
      </p:pic>
      <p:sp>
        <p:nvSpPr>
          <p:cNvPr id="15" name="Text 11"/>
          <p:cNvSpPr txBox="1"/>
          <p:nvPr/>
        </p:nvSpPr>
        <p:spPr>
          <a:xfrm>
            <a:off x="2194560" y="2734056"/>
            <a:ext cx="9235440" cy="384048"/>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IT security review &amp; trusted certificate</a:t>
            </a:r>
            <a:endParaRPr lang="en-US" sz="1800" dirty="0"/>
          </a:p>
        </p:txBody>
      </p:sp>
      <p:sp>
        <p:nvSpPr>
          <p:cNvPr id="16" name="Text 12"/>
          <p:cNvSpPr txBox="1"/>
          <p:nvPr/>
        </p:nvSpPr>
        <p:spPr>
          <a:xfrm>
            <a:off x="2194560" y="3118104"/>
            <a:ext cx="9235440" cy="347472"/>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So Adobe shows our signatures as fully trusted for everyone</a:t>
            </a:r>
            <a:endParaRPr lang="en-US" sz="1400" dirty="0"/>
          </a:p>
        </p:txBody>
      </p:sp>
      <p:sp>
        <p:nvSpPr>
          <p:cNvPr id="17" name="Shape 13"/>
          <p:cNvSpPr/>
          <p:nvPr/>
        </p:nvSpPr>
        <p:spPr>
          <a:xfrm>
            <a:off x="548640" y="3794760"/>
            <a:ext cx="11109960" cy="987552"/>
          </a:xfrm>
          <a:prstGeom prst="roundRect">
            <a:avLst>
              <a:gd name="adj" fmla="val 9259"/>
            </a:avLst>
          </a:prstGeom>
          <a:solidFill>
            <a:srgbClr val="FDF0E8"/>
          </a:solidFill>
          <a:ln w="12700">
            <a:solidFill>
              <a:srgbClr val="FDF0E8"/>
            </a:solidFill>
            <a:prstDash val="solid"/>
          </a:ln>
        </p:spPr>
      </p:sp>
      <p:sp>
        <p:nvSpPr>
          <p:cNvPr id="18" name="Shape 14"/>
          <p:cNvSpPr/>
          <p:nvPr/>
        </p:nvSpPr>
        <p:spPr>
          <a:xfrm>
            <a:off x="822960" y="4087368"/>
            <a:ext cx="384048" cy="384048"/>
          </a:xfrm>
          <a:prstGeom prst="ellipse">
            <a:avLst/>
          </a:prstGeom>
          <a:solidFill>
            <a:srgbClr val="E35205"/>
          </a:solidFill>
          <a:ln w="12700">
            <a:solidFill>
              <a:srgbClr val="E35205"/>
            </a:solidFill>
            <a:prstDash val="solid"/>
          </a:ln>
        </p:spPr>
      </p:sp>
      <p:sp>
        <p:nvSpPr>
          <p:cNvPr id="19" name="Text 15"/>
          <p:cNvSpPr txBox="1"/>
          <p:nvPr/>
        </p:nvSpPr>
        <p:spPr>
          <a:xfrm>
            <a:off x="822960" y="4087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Shape 16"/>
          <p:cNvSpPr/>
          <p:nvPr/>
        </p:nvSpPr>
        <p:spPr>
          <a:xfrm>
            <a:off x="1417320" y="4014216"/>
            <a:ext cx="548640" cy="548640"/>
          </a:xfrm>
          <a:prstGeom prst="ellipse">
            <a:avLst/>
          </a:prstGeom>
          <a:solidFill>
            <a:srgbClr val="0B1F3A"/>
          </a:solidFill>
          <a:ln w="12700">
            <a:solidFill>
              <a:srgbClr val="0B1F3A"/>
            </a:solidFill>
            <a:prstDash val="solid"/>
          </a:ln>
        </p:spPr>
      </p:sp>
      <p:pic>
        <p:nvPicPr>
          <p:cNvPr id="21" name="Image 2" descr="preencoded.png">    </p:cNvPr>
          <p:cNvPicPr>
            <a:picLocks noChangeAspect="1"/>
          </p:cNvPicPr>
          <p:nvPr/>
        </p:nvPicPr>
        <p:blipFill>
          <a:blip r:embed="rId3"/>
          <a:stretch>
            <a:fillRect/>
          </a:stretch>
        </p:blipFill>
        <p:spPr>
          <a:xfrm>
            <a:off x="1538021" y="4134917"/>
            <a:ext cx="307238" cy="307238"/>
          </a:xfrm>
          <a:prstGeom prst="rect">
            <a:avLst/>
          </a:prstGeom>
        </p:spPr>
      </p:pic>
      <p:sp>
        <p:nvSpPr>
          <p:cNvPr id="22" name="Text 17"/>
          <p:cNvSpPr txBox="1"/>
          <p:nvPr/>
        </p:nvSpPr>
        <p:spPr>
          <a:xfrm>
            <a:off x="2194560" y="3922776"/>
            <a:ext cx="9235440" cy="384048"/>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A contact in the TracIT team</a:t>
            </a:r>
            <a:endParaRPr lang="en-US" sz="1800" dirty="0"/>
          </a:p>
        </p:txBody>
      </p:sp>
      <p:sp>
        <p:nvSpPr>
          <p:cNvPr id="23" name="Text 18"/>
          <p:cNvSpPr txBox="1"/>
          <p:nvPr/>
        </p:nvSpPr>
        <p:spPr>
          <a:xfrm>
            <a:off x="2194560" y="4306824"/>
            <a:ext cx="9235440" cy="347472"/>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To confirm we can pull the EUC report automatically each day</a:t>
            </a:r>
            <a:endParaRPr lang="en-US" sz="1400" dirty="0"/>
          </a:p>
        </p:txBody>
      </p:sp>
      <p:sp>
        <p:nvSpPr>
          <p:cNvPr id="24" name="Shape 19"/>
          <p:cNvSpPr/>
          <p:nvPr/>
        </p:nvSpPr>
        <p:spPr>
          <a:xfrm>
            <a:off x="548640" y="4983480"/>
            <a:ext cx="11109960" cy="987552"/>
          </a:xfrm>
          <a:prstGeom prst="roundRect">
            <a:avLst>
              <a:gd name="adj" fmla="val 9259"/>
            </a:avLst>
          </a:prstGeom>
          <a:solidFill>
            <a:srgbClr val="F3F4F6"/>
          </a:solidFill>
          <a:ln w="12700">
            <a:solidFill>
              <a:srgbClr val="F3F4F6"/>
            </a:solidFill>
            <a:prstDash val="solid"/>
          </a:ln>
        </p:spPr>
      </p:sp>
      <p:sp>
        <p:nvSpPr>
          <p:cNvPr id="25" name="Shape 20"/>
          <p:cNvSpPr/>
          <p:nvPr/>
        </p:nvSpPr>
        <p:spPr>
          <a:xfrm>
            <a:off x="822960" y="5276088"/>
            <a:ext cx="384048" cy="384048"/>
          </a:xfrm>
          <a:prstGeom prst="ellipse">
            <a:avLst/>
          </a:prstGeom>
          <a:solidFill>
            <a:srgbClr val="E35205"/>
          </a:solidFill>
          <a:ln w="12700">
            <a:solidFill>
              <a:srgbClr val="E35205"/>
            </a:solidFill>
            <a:prstDash val="solid"/>
          </a:ln>
        </p:spPr>
      </p:sp>
      <p:sp>
        <p:nvSpPr>
          <p:cNvPr id="26" name="Text 21"/>
          <p:cNvSpPr txBox="1"/>
          <p:nvPr/>
        </p:nvSpPr>
        <p:spPr>
          <a:xfrm>
            <a:off x="822960" y="5276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2"/>
          <p:cNvSpPr/>
          <p:nvPr/>
        </p:nvSpPr>
        <p:spPr>
          <a:xfrm>
            <a:off x="1417320" y="5202936"/>
            <a:ext cx="548640" cy="548640"/>
          </a:xfrm>
          <a:prstGeom prst="ellipse">
            <a:avLst/>
          </a:prstGeom>
          <a:solidFill>
            <a:srgbClr val="0B1F3A"/>
          </a:solidFill>
          <a:ln w="12700">
            <a:solidFill>
              <a:srgbClr val="0B1F3A"/>
            </a:solidFill>
            <a:prstDash val="solid"/>
          </a:ln>
        </p:spPr>
      </p:sp>
      <p:pic>
        <p:nvPicPr>
          <p:cNvPr id="28" name="Image 3" descr="preencoded.png">    </p:cNvPr>
          <p:cNvPicPr>
            <a:picLocks noChangeAspect="1"/>
          </p:cNvPicPr>
          <p:nvPr/>
        </p:nvPicPr>
        <p:blipFill>
          <a:blip r:embed="rId4"/>
          <a:stretch>
            <a:fillRect/>
          </a:stretch>
        </p:blipFill>
        <p:spPr>
          <a:xfrm>
            <a:off x="1538021" y="5323637"/>
            <a:ext cx="307238" cy="307238"/>
          </a:xfrm>
          <a:prstGeom prst="rect">
            <a:avLst/>
          </a:prstGeom>
        </p:spPr>
      </p:pic>
      <p:sp>
        <p:nvSpPr>
          <p:cNvPr id="29" name="Text 23"/>
          <p:cNvSpPr txBox="1"/>
          <p:nvPr/>
        </p:nvSpPr>
        <p:spPr>
          <a:xfrm>
            <a:off x="2194560" y="5111496"/>
            <a:ext cx="9235440" cy="384048"/>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ServiceNow new-hire table details</a:t>
            </a:r>
            <a:endParaRPr lang="en-US" sz="1800" dirty="0"/>
          </a:p>
        </p:txBody>
      </p:sp>
      <p:sp>
        <p:nvSpPr>
          <p:cNvPr id="30" name="Text 24"/>
          <p:cNvSpPr txBox="1"/>
          <p:nvPr/>
        </p:nvSpPr>
        <p:spPr>
          <a:xfrm>
            <a:off x="2194560" y="5495544"/>
            <a:ext cx="9235440" cy="347472"/>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So same-day new hires fill in automatically too</a:t>
            </a:r>
            <a:endParaRPr lang="en-US" sz="1400" dirty="0"/>
          </a:p>
        </p:txBody>
      </p:sp>
      <p:sp>
        <p:nvSpPr>
          <p:cNvPr id="31" name="Text 2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IT Asset Submission Acknowledgement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2011680"/>
            <a:ext cx="1088136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txBox="1"/>
          <p:nvPr/>
        </p:nvSpPr>
        <p:spPr>
          <a:xfrm>
            <a:off x="640080" y="2971800"/>
            <a:ext cx="10881360" cy="548640"/>
          </a:xfrm>
          <a:prstGeom prst="rect">
            <a:avLst/>
          </a:prstGeom>
          <a:noFill/>
          <a:ln/>
        </p:spPr>
        <p:txBody>
          <a:bodyPr wrap="square" lIns="0" tIns="0" rIns="0" bIns="0" rtlCol="0" anchor="ctr"/>
          <a:lstStyle/>
          <a:p>
            <a:pPr indent="0" marL="0">
              <a:buNone/>
            </a:pPr>
            <a:r>
              <a:rPr lang="en-US" sz="2200" dirty="0">
                <a:solidFill>
                  <a:srgbClr val="F6A97C"/>
                </a:solidFill>
                <a:latin typeface="Calibri" pitchFamily="34" charset="0"/>
                <a:ea typeface="Calibri" pitchFamily="34" charset="-122"/>
                <a:cs typeface="Calibri" pitchFamily="34" charset="-120"/>
              </a:rPr>
              <a:t>Questions, and a 2-minute live demo</a:t>
            </a:r>
            <a:endParaRPr lang="en-US" sz="2200" dirty="0"/>
          </a:p>
        </p:txBody>
      </p:sp>
      <p:sp>
        <p:nvSpPr>
          <p:cNvPr id="4" name="Text 2"/>
          <p:cNvSpPr txBox="1"/>
          <p:nvPr/>
        </p:nvSpPr>
        <p:spPr>
          <a:xfrm>
            <a:off x="640080" y="4206240"/>
            <a:ext cx="548640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Sriram 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Asset Submission Acknowledgement App</dc:title>
  <dc:subject>PptxGenJS Presentation</dc:subject>
  <dc:creator>Sriram R</dc:creator>
  <cp:lastModifiedBy>Sriram R</cp:lastModifiedBy>
  <cp:revision>1</cp:revision>
  <dcterms:created xsi:type="dcterms:W3CDTF">2026-10-01T08:42:24Z</dcterms:created>
  <dcterms:modified xsi:type="dcterms:W3CDTF">2026-10-01T08:42:24Z</dcterms:modified>
</cp:coreProperties>
</file>